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6" r:id="rId4"/>
    <p:sldId id="282" r:id="rId5"/>
    <p:sldId id="283" r:id="rId6"/>
    <p:sldId id="284" r:id="rId7"/>
    <p:sldId id="285" r:id="rId8"/>
    <p:sldId id="286" r:id="rId9"/>
    <p:sldId id="287" r:id="rId10"/>
    <p:sldId id="288" r:id="rId11"/>
    <p:sldId id="289" r:id="rId12"/>
    <p:sldId id="290" r:id="rId13"/>
    <p:sldId id="291" r:id="rId14"/>
    <p:sldId id="281" r:id="rId15"/>
    <p:sldId id="292" r:id="rId16"/>
    <p:sldId id="293" r:id="rId17"/>
    <p:sldId id="294" r:id="rId18"/>
    <p:sldId id="295" r:id="rId19"/>
    <p:sldId id="296" r:id="rId20"/>
    <p:sldId id="297" r:id="rId21"/>
    <p:sldId id="298" r:id="rId22"/>
    <p:sldId id="299" r:id="rId23"/>
    <p:sldId id="300" r:id="rId24"/>
    <p:sldId id="280" r:id="rId25"/>
    <p:sldId id="301" r:id="rId26"/>
    <p:sldId id="276" r:id="rId27"/>
  </p:sldIdLst>
  <p:sldSz cx="18288000" cy="10287000"/>
  <p:notesSz cx="6858000" cy="9144000"/>
  <p:embeddedFontLst>
    <p:embeddedFont>
      <p:font typeface="Poppins" panose="00000500000000000000" pitchFamily="2" charset="0"/>
      <p:regular r:id="rId28"/>
      <p:bold r:id="rId29"/>
      <p:italic r:id="rId30"/>
      <p:boldItalic r:id="rId31"/>
    </p:embeddedFont>
    <p:embeddedFont>
      <p:font typeface="Segoe UI 1" panose="020B0802040204020203" charset="0"/>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89"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
        <p:nvSpPr>
          <p:cNvPr id="7" name="Picture Placeholder 6">
            <a:extLst>
              <a:ext uri="{FF2B5EF4-FFF2-40B4-BE49-F238E27FC236}">
                <a16:creationId xmlns:a16="http://schemas.microsoft.com/office/drawing/2014/main" id="{88EBF0A3-4EDD-20C1-CF1D-38F6C02CD462}"/>
              </a:ext>
            </a:extLst>
          </p:cNvPr>
          <p:cNvSpPr>
            <a:spLocks noGrp="1"/>
          </p:cNvSpPr>
          <p:nvPr>
            <p:ph type="pic" sz="quarter" idx="13"/>
          </p:nvPr>
        </p:nvSpPr>
        <p:spPr>
          <a:xfrm>
            <a:off x="11430000" y="2552700"/>
            <a:ext cx="5181600" cy="2743200"/>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DDE20664-0446-C262-0671-AD8EB3EF085A}"/>
              </a:ext>
            </a:extLst>
          </p:cNvPr>
          <p:cNvSpPr>
            <a:spLocks noGrp="1"/>
          </p:cNvSpPr>
          <p:nvPr>
            <p:ph type="pic" sz="quarter" idx="14"/>
          </p:nvPr>
        </p:nvSpPr>
        <p:spPr>
          <a:xfrm>
            <a:off x="1752600" y="2324100"/>
            <a:ext cx="4267200" cy="3124200"/>
          </a:xfrm>
          <a:prstGeom prst="rect">
            <a:avLst/>
          </a:prstGeom>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400800" y="6356349"/>
            <a:ext cx="2133600" cy="365125"/>
          </a:xfrm>
          <a:prstGeom prst="rect">
            <a:avLst/>
          </a:prstGeom>
        </p:spPr>
        <p:txBody>
          <a:bodyPr/>
          <a:lstStyle/>
          <a:p>
            <a:endParaRPr lang="en-US" dirty="0"/>
          </a:p>
        </p:txBody>
      </p:sp>
      <p:sp>
        <p:nvSpPr>
          <p:cNvPr id="6" name="Media Placeholder 5">
            <a:extLst>
              <a:ext uri="{FF2B5EF4-FFF2-40B4-BE49-F238E27FC236}">
                <a16:creationId xmlns:a16="http://schemas.microsoft.com/office/drawing/2014/main" id="{BAA89482-D72B-60A1-7BDD-AF40FC073DD5}"/>
              </a:ext>
            </a:extLst>
          </p:cNvPr>
          <p:cNvSpPr>
            <a:spLocks noGrp="1"/>
          </p:cNvSpPr>
          <p:nvPr>
            <p:ph type="media" sz="quarter" idx="13"/>
          </p:nvPr>
        </p:nvSpPr>
        <p:spPr>
          <a:xfrm>
            <a:off x="0" y="-23110"/>
            <a:ext cx="6324600" cy="5867400"/>
          </a:xfrm>
          <a:prstGeom prst="rect">
            <a:avLst/>
          </a:prstGeom>
        </p:spPr>
        <p:txBody>
          <a:bodyPr/>
          <a:lstStyle/>
          <a:p>
            <a:endParaRPr lang="en-US"/>
          </a:p>
        </p:txBody>
      </p:sp>
      <p:sp>
        <p:nvSpPr>
          <p:cNvPr id="8" name="Picture Placeholder 7">
            <a:extLst>
              <a:ext uri="{FF2B5EF4-FFF2-40B4-BE49-F238E27FC236}">
                <a16:creationId xmlns:a16="http://schemas.microsoft.com/office/drawing/2014/main" id="{91E72CF9-754A-C6B3-A866-438B82D44A9B}"/>
              </a:ext>
            </a:extLst>
          </p:cNvPr>
          <p:cNvSpPr>
            <a:spLocks noGrp="1"/>
          </p:cNvSpPr>
          <p:nvPr>
            <p:ph type="pic" sz="quarter" idx="14"/>
          </p:nvPr>
        </p:nvSpPr>
        <p:spPr>
          <a:xfrm>
            <a:off x="11582400" y="3390900"/>
            <a:ext cx="6705600" cy="6896100"/>
          </a:xfrm>
          <a:prstGeom prst="rect">
            <a:avLst/>
          </a:prstGeom>
        </p:spPr>
        <p:txBody>
          <a:bodyPr/>
          <a:lstStyle/>
          <a:p>
            <a:endParaRPr lang="en-US"/>
          </a:p>
        </p:txBody>
      </p:sp>
      <p:sp>
        <p:nvSpPr>
          <p:cNvPr id="9" name="Picture Placeholder 7">
            <a:extLst>
              <a:ext uri="{FF2B5EF4-FFF2-40B4-BE49-F238E27FC236}">
                <a16:creationId xmlns:a16="http://schemas.microsoft.com/office/drawing/2014/main" id="{B264F41B-AF28-D235-56EF-F619956A74EA}"/>
              </a:ext>
            </a:extLst>
          </p:cNvPr>
          <p:cNvSpPr>
            <a:spLocks noGrp="1"/>
          </p:cNvSpPr>
          <p:nvPr>
            <p:ph type="pic" sz="quarter" idx="15"/>
          </p:nvPr>
        </p:nvSpPr>
        <p:spPr>
          <a:xfrm>
            <a:off x="7239000" y="952500"/>
            <a:ext cx="5486400" cy="2438400"/>
          </a:xfrm>
          <a:prstGeom prst="rect">
            <a:avLst/>
          </a:prstGeom>
        </p:spPr>
        <p:txBody>
          <a:bodyPr/>
          <a:lstStyle/>
          <a:p>
            <a:endParaRPr lang="en-US"/>
          </a:p>
        </p:txBody>
      </p:sp>
      <p:sp>
        <p:nvSpPr>
          <p:cNvPr id="11" name="Picture Placeholder 10">
            <a:extLst>
              <a:ext uri="{FF2B5EF4-FFF2-40B4-BE49-F238E27FC236}">
                <a16:creationId xmlns:a16="http://schemas.microsoft.com/office/drawing/2014/main" id="{4E14EE8E-AA62-7C99-F2CB-63F01A2B141E}"/>
              </a:ext>
            </a:extLst>
          </p:cNvPr>
          <p:cNvSpPr>
            <a:spLocks noGrp="1"/>
          </p:cNvSpPr>
          <p:nvPr>
            <p:ph type="pic" sz="quarter" idx="16"/>
          </p:nvPr>
        </p:nvSpPr>
        <p:spPr>
          <a:xfrm>
            <a:off x="1676400" y="7353300"/>
            <a:ext cx="3962400" cy="2024062"/>
          </a:xfrm>
          <a:prstGeom prst="rect">
            <a:avLst/>
          </a:prstGeom>
        </p:spPr>
        <p:txBody>
          <a:bodyPr/>
          <a:lstStyle/>
          <a:p>
            <a:endParaRPr lang="en-US"/>
          </a:p>
        </p:txBody>
      </p:sp>
      <p:sp>
        <p:nvSpPr>
          <p:cNvPr id="13" name="Picture Placeholder 12">
            <a:extLst>
              <a:ext uri="{FF2B5EF4-FFF2-40B4-BE49-F238E27FC236}">
                <a16:creationId xmlns:a16="http://schemas.microsoft.com/office/drawing/2014/main" id="{4FA4D1E8-8E2E-5E37-0BDA-08ACD70005AC}"/>
              </a:ext>
            </a:extLst>
          </p:cNvPr>
          <p:cNvSpPr>
            <a:spLocks noGrp="1"/>
          </p:cNvSpPr>
          <p:nvPr>
            <p:ph type="pic" sz="quarter" idx="17"/>
          </p:nvPr>
        </p:nvSpPr>
        <p:spPr>
          <a:xfrm>
            <a:off x="7239000" y="3924300"/>
            <a:ext cx="3276600" cy="2133600"/>
          </a:xfrm>
          <a:prstGeom prst="rect">
            <a:avLst/>
          </a:prstGeom>
        </p:spPr>
        <p:txBody>
          <a:bodyPr/>
          <a:lstStyle/>
          <a:p>
            <a:endParaRPr lang="en-US"/>
          </a:p>
        </p:txBody>
      </p:sp>
    </p:spTree>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00800" y="6356349"/>
            <a:ext cx="2133600"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349299E-E65A-3043-8A3B-2B91894D1B90}"/>
              </a:ext>
            </a:extLst>
          </p:cNvPr>
          <p:cNvPicPr>
            <a:picLocks noChangeAspect="1"/>
          </p:cNvPicPr>
          <p:nvPr userDrawn="1"/>
        </p:nvPicPr>
        <p:blipFill>
          <a:blip r:embed="rId13"/>
          <a:stretch>
            <a:fillRect/>
          </a:stretch>
        </p:blipFill>
        <p:spPr>
          <a:xfrm>
            <a:off x="0" y="9262631"/>
            <a:ext cx="18288000" cy="1042416"/>
          </a:xfrm>
          <a:prstGeom prst="rect">
            <a:avLst/>
          </a:prstGeom>
        </p:spPr>
      </p:pic>
      <p:sp>
        <p:nvSpPr>
          <p:cNvPr id="10" name="Freeform 4">
            <a:extLst>
              <a:ext uri="{FF2B5EF4-FFF2-40B4-BE49-F238E27FC236}">
                <a16:creationId xmlns:a16="http://schemas.microsoft.com/office/drawing/2014/main" id="{7F2FD8BD-A474-9D4C-D34A-251862634AD6}"/>
              </a:ext>
            </a:extLst>
          </p:cNvPr>
          <p:cNvSpPr/>
          <p:nvPr userDrawn="1"/>
        </p:nvSpPr>
        <p:spPr>
          <a:xfrm>
            <a:off x="6096000" y="2024700"/>
            <a:ext cx="5970665" cy="7233600"/>
          </a:xfrm>
          <a:custGeom>
            <a:avLst/>
            <a:gdLst/>
            <a:ahLst/>
            <a:cxnLst/>
            <a:rect l="l" t="t" r="r" b="b"/>
            <a:pathLst>
              <a:path w="5970665" h="7233600">
                <a:moveTo>
                  <a:pt x="0" y="0"/>
                </a:moveTo>
                <a:lnTo>
                  <a:pt x="5970665" y="0"/>
                </a:lnTo>
                <a:lnTo>
                  <a:pt x="5970665" y="7233600"/>
                </a:lnTo>
                <a:lnTo>
                  <a:pt x="0" y="7233600"/>
                </a:lnTo>
                <a:lnTo>
                  <a:pt x="0" y="0"/>
                </a:lnTo>
                <a:close/>
              </a:path>
            </a:pathLst>
          </a:custGeom>
          <a:blipFill>
            <a:blip r:embed="rId14">
              <a:alphaModFix amt="3000"/>
            </a:blip>
            <a:stretch>
              <a:fillRect r="-166268"/>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40" userDrawn="1">
          <p15:clr>
            <a:srgbClr val="F26B43"/>
          </p15:clr>
        </p15:guide>
        <p15:guide id="2" pos="57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png"/><Relationship Id="rId7" Type="http://schemas.openxmlformats.org/officeDocument/2006/relationships/image" Target="../media/image21.sv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2E3A6E">
                <a:alpha val="100000"/>
              </a:srgbClr>
            </a:gs>
            <a:gs pos="100000">
              <a:srgbClr val="26209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0"/>
            <a:ext cx="18317150" cy="10285320"/>
          </a:xfrm>
          <a:custGeom>
            <a:avLst/>
            <a:gdLst/>
            <a:ahLst/>
            <a:cxnLst/>
            <a:rect l="l" t="t" r="r" b="b"/>
            <a:pathLst>
              <a:path w="18317150" h="12502574">
                <a:moveTo>
                  <a:pt x="0" y="0"/>
                </a:moveTo>
                <a:lnTo>
                  <a:pt x="18317150" y="0"/>
                </a:lnTo>
                <a:lnTo>
                  <a:pt x="18317150" y="12502574"/>
                </a:lnTo>
                <a:lnTo>
                  <a:pt x="0" y="12502574"/>
                </a:lnTo>
                <a:lnTo>
                  <a:pt x="0" y="0"/>
                </a:lnTo>
                <a:close/>
              </a:path>
            </a:pathLst>
          </a:custGeom>
          <a:blipFill>
            <a:blip r:embed="rId2">
              <a:alphaModFix amt="6000"/>
            </a:blip>
            <a:stretch>
              <a:fillRect l="-1192" r="-1192"/>
            </a:stretch>
          </a:blipFill>
        </p:spPr>
        <p:txBody>
          <a:bodyPr/>
          <a:lstStyle/>
          <a:p>
            <a:endParaRPr lang="en-US"/>
          </a:p>
        </p:txBody>
      </p:sp>
      <p:sp>
        <p:nvSpPr>
          <p:cNvPr id="3" name="Freeform 3"/>
          <p:cNvSpPr/>
          <p:nvPr/>
        </p:nvSpPr>
        <p:spPr>
          <a:xfrm>
            <a:off x="14595563" y="1015051"/>
            <a:ext cx="2663737" cy="1152180"/>
          </a:xfrm>
          <a:custGeom>
            <a:avLst/>
            <a:gdLst/>
            <a:ahLst/>
            <a:cxnLst/>
            <a:rect l="l" t="t" r="r" b="b"/>
            <a:pathLst>
              <a:path w="2663737" h="1152180">
                <a:moveTo>
                  <a:pt x="0" y="0"/>
                </a:moveTo>
                <a:lnTo>
                  <a:pt x="2663737" y="0"/>
                </a:lnTo>
                <a:lnTo>
                  <a:pt x="2663737" y="1152180"/>
                </a:lnTo>
                <a:lnTo>
                  <a:pt x="0" y="1152180"/>
                </a:lnTo>
                <a:lnTo>
                  <a:pt x="0" y="0"/>
                </a:lnTo>
                <a:close/>
              </a:path>
            </a:pathLst>
          </a:custGeom>
          <a:blipFill>
            <a:blip r:embed="rId3"/>
            <a:stretch>
              <a:fillRect t="-1900" b="-1900"/>
            </a:stretch>
          </a:blipFill>
        </p:spPr>
        <p:txBody>
          <a:bodyPr/>
          <a:lstStyle/>
          <a:p>
            <a:endParaRPr lang="en-US"/>
          </a:p>
        </p:txBody>
      </p:sp>
      <p:sp>
        <p:nvSpPr>
          <p:cNvPr id="4" name="TextBox 4"/>
          <p:cNvSpPr txBox="1"/>
          <p:nvPr/>
        </p:nvSpPr>
        <p:spPr>
          <a:xfrm>
            <a:off x="1675026" y="3595981"/>
            <a:ext cx="14631650" cy="1309526"/>
          </a:xfrm>
          <a:prstGeom prst="rect">
            <a:avLst/>
          </a:prstGeom>
        </p:spPr>
        <p:txBody>
          <a:bodyPr lIns="0" tIns="0" rIns="0" bIns="0" rtlCol="0" anchor="t">
            <a:spAutoFit/>
          </a:bodyPr>
          <a:lstStyle/>
          <a:p>
            <a:pPr algn="ctr">
              <a:lnSpc>
                <a:spcPts val="11200"/>
              </a:lnSpc>
            </a:pPr>
            <a:r>
              <a:rPr lang="en-US" sz="8000" dirty="0">
                <a:solidFill>
                  <a:srgbClr val="FFFFFF"/>
                </a:solidFill>
                <a:latin typeface="Segoe UI 1"/>
                <a:ea typeface="Segoe UI 1"/>
                <a:cs typeface="Segoe UI 1"/>
                <a:sym typeface="Segoe UI 1"/>
              </a:rPr>
              <a:t>Strings and Operators</a:t>
            </a:r>
          </a:p>
        </p:txBody>
      </p:sp>
      <p:sp>
        <p:nvSpPr>
          <p:cNvPr id="7" name="TextBox 7"/>
          <p:cNvSpPr txBox="1"/>
          <p:nvPr/>
        </p:nvSpPr>
        <p:spPr>
          <a:xfrm>
            <a:off x="13968586" y="7633544"/>
            <a:ext cx="3024014" cy="413190"/>
          </a:xfrm>
          <a:prstGeom prst="rect">
            <a:avLst/>
          </a:prstGeom>
        </p:spPr>
        <p:txBody>
          <a:bodyPr wrap="square" lIns="0" tIns="0" rIns="0" bIns="0" rtlCol="0" anchor="t">
            <a:spAutoFit/>
          </a:bodyPr>
          <a:lstStyle/>
          <a:p>
            <a:pPr>
              <a:lnSpc>
                <a:spcPts val="3359"/>
              </a:lnSpc>
            </a:pPr>
            <a:r>
              <a:rPr lang="en-US" sz="2400" dirty="0">
                <a:solidFill>
                  <a:srgbClr val="FFFFFF"/>
                </a:solidFill>
                <a:latin typeface="Poppins"/>
                <a:ea typeface="Poppins"/>
                <a:cs typeface="Poppins"/>
                <a:sym typeface="Poppins"/>
              </a:rPr>
              <a:t>2026/2027 Session</a:t>
            </a:r>
          </a:p>
        </p:txBody>
      </p:sp>
      <p:sp>
        <p:nvSpPr>
          <p:cNvPr id="8" name="TextBox 8"/>
          <p:cNvSpPr txBox="1"/>
          <p:nvPr/>
        </p:nvSpPr>
        <p:spPr>
          <a:xfrm>
            <a:off x="13404143" y="8114214"/>
            <a:ext cx="4152900" cy="413190"/>
          </a:xfrm>
          <a:prstGeom prst="rect">
            <a:avLst/>
          </a:prstGeom>
        </p:spPr>
        <p:txBody>
          <a:bodyPr wrap="square" lIns="0" tIns="0" rIns="0" bIns="0" rtlCol="0" anchor="t">
            <a:spAutoFit/>
          </a:bodyPr>
          <a:lstStyle/>
          <a:p>
            <a:pPr>
              <a:lnSpc>
                <a:spcPts val="3359"/>
              </a:lnSpc>
            </a:pPr>
            <a:r>
              <a:rPr lang="en-US" sz="2400" dirty="0">
                <a:solidFill>
                  <a:srgbClr val="FFFFFF"/>
                </a:solidFill>
                <a:latin typeface="Poppins"/>
                <a:ea typeface="Poppins"/>
                <a:cs typeface="Poppins"/>
                <a:sym typeface="Poppins"/>
              </a:rPr>
              <a:t>Pan-Atlantic University</a:t>
            </a:r>
          </a:p>
        </p:txBody>
      </p:sp>
      <p:sp>
        <p:nvSpPr>
          <p:cNvPr id="9" name="TextBox 9"/>
          <p:cNvSpPr txBox="1"/>
          <p:nvPr/>
        </p:nvSpPr>
        <p:spPr>
          <a:xfrm>
            <a:off x="4343400" y="5282924"/>
            <a:ext cx="9338195" cy="547714"/>
          </a:xfrm>
          <a:prstGeom prst="rect">
            <a:avLst/>
          </a:prstGeom>
        </p:spPr>
        <p:txBody>
          <a:bodyPr wrap="square" lIns="0" tIns="0" rIns="0" bIns="0" rtlCol="0" anchor="t">
            <a:spAutoFit/>
          </a:bodyPr>
          <a:lstStyle/>
          <a:p>
            <a:pPr algn="ctr">
              <a:lnSpc>
                <a:spcPts val="4480"/>
              </a:lnSpc>
            </a:pPr>
            <a:r>
              <a:rPr lang="en-US" sz="3200" dirty="0">
                <a:solidFill>
                  <a:srgbClr val="FFFFFF"/>
                </a:solidFill>
                <a:latin typeface="Poppins"/>
                <a:ea typeface="Poppins"/>
                <a:cs typeface="Poppins"/>
                <a:sym typeface="Poppins"/>
              </a:rPr>
              <a:t>CSC 101 Practical  ·  Week 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290517" y="933450"/>
            <a:ext cx="9000000" cy="821030"/>
          </a:xfrm>
          <a:prstGeom prst="rect">
            <a:avLst/>
          </a:prstGeom>
        </p:spPr>
        <p:txBody>
          <a:bodyPr lIns="0" tIns="0" rIns="0" bIns="0" rtlCol="0" anchor="t">
            <a:spAutoFit/>
          </a:bodyPr>
          <a:lstStyle/>
          <a:p>
            <a:pPr algn="l">
              <a:lnSpc>
                <a:spcPts val="6719"/>
              </a:lnSpc>
            </a:pPr>
            <a:r>
              <a:rPr lang="en-US" sz="4800">
                <a:solidFill>
                  <a:srgbClr val="2E3A6E"/>
                </a:solidFill>
                <a:latin typeface="Segoe UI 1"/>
                <a:ea typeface="Segoe UI 1"/>
                <a:cs typeface="Segoe UI 1"/>
                <a:sym typeface="Segoe UI 1"/>
              </a:rPr>
              <a:t>Today's Practical</a:t>
            </a:r>
          </a:p>
        </p:txBody>
      </p:sp>
      <p:sp>
        <p:nvSpPr>
          <p:cNvPr id="4" name="Rounded Rectangle 3"/>
          <p:cNvSpPr/>
          <p:nvPr/>
        </p:nvSpPr>
        <p:spPr>
          <a:xfrm>
            <a:off x="1290517" y="2740000"/>
            <a:ext cx="15706966" cy="178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50517" y="3060000"/>
            <a:ext cx="2200000" cy="600000"/>
          </a:xfrm>
          <a:prstGeom prst="rect">
            <a:avLst/>
          </a:prstGeom>
          <a:noFill/>
        </p:spPr>
        <p:txBody>
          <a:bodyPr wrap="square" lIns="0" tIns="0" rIns="0" bIns="0" anchor="t">
            <a:spAutoFit/>
          </a:bodyPr>
          <a:lstStyle/>
          <a:p>
            <a:pPr algn="l"/>
            <a:r>
              <a:rPr sz="1700" b="1" i="0">
                <a:solidFill>
                  <a:srgbClr val="2E3A6E"/>
                </a:solidFill>
                <a:latin typeface="Poppins"/>
                <a:ea typeface="Poppins"/>
                <a:cs typeface="Poppins"/>
              </a:rPr>
              <a:t>Part 1</a:t>
            </a:r>
          </a:p>
        </p:txBody>
      </p:sp>
      <p:sp>
        <p:nvSpPr>
          <p:cNvPr id="6" name="TextBox 5"/>
          <p:cNvSpPr txBox="1"/>
          <p:nvPr/>
        </p:nvSpPr>
        <p:spPr>
          <a:xfrm>
            <a:off x="1850517" y="3460000"/>
            <a:ext cx="14506966" cy="900000"/>
          </a:xfrm>
          <a:prstGeom prst="rect">
            <a:avLst/>
          </a:prstGeom>
          <a:noFill/>
        </p:spPr>
        <p:txBody>
          <a:bodyPr wrap="square" lIns="0" tIns="0" rIns="0" bIns="0" anchor="t">
            <a:spAutoFit/>
          </a:bodyPr>
          <a:lstStyle/>
          <a:p>
            <a:pPr algn="l">
              <a:spcAft>
                <a:spcPts val="400"/>
              </a:spcAft>
            </a:pPr>
            <a:r>
              <a:rPr sz="2600" b="0" i="0">
                <a:solidFill>
                  <a:srgbClr val="1F2430"/>
                </a:solidFill>
                <a:latin typeface="Segoe UI 1"/>
                <a:ea typeface="Segoe UI 1"/>
                <a:cs typeface="Segoe UI 1"/>
              </a:rPr>
              <a:t>Strings</a:t>
            </a:r>
          </a:p>
          <a:p>
            <a:pPr algn="l">
              <a:spcAft>
                <a:spcPts val="400"/>
              </a:spcAft>
            </a:pPr>
            <a:r>
              <a:rPr sz="1600" b="0" i="0">
                <a:solidFill>
                  <a:srgbClr val="5A6072"/>
                </a:solidFill>
                <a:latin typeface="Poppins"/>
                <a:ea typeface="Poppins"/>
                <a:cs typeface="Poppins"/>
              </a:rPr>
              <a:t>Literals vs String objects, the methods toolbox, and format!. Practices 1 to 7.</a:t>
            </a:r>
          </a:p>
        </p:txBody>
      </p:sp>
      <p:sp>
        <p:nvSpPr>
          <p:cNvPr id="7" name="Rounded Rectangle 6"/>
          <p:cNvSpPr/>
          <p:nvPr/>
        </p:nvSpPr>
        <p:spPr>
          <a:xfrm>
            <a:off x="1290517" y="4840000"/>
            <a:ext cx="15706966" cy="178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50517" y="5160000"/>
            <a:ext cx="2200000" cy="600000"/>
          </a:xfrm>
          <a:prstGeom prst="rect">
            <a:avLst/>
          </a:prstGeom>
          <a:noFill/>
        </p:spPr>
        <p:txBody>
          <a:bodyPr wrap="square" lIns="0" tIns="0" rIns="0" bIns="0" anchor="t">
            <a:spAutoFit/>
          </a:bodyPr>
          <a:lstStyle/>
          <a:p>
            <a:pPr algn="l"/>
            <a:r>
              <a:rPr sz="1700" b="1" i="0">
                <a:solidFill>
                  <a:srgbClr val="2E3A6E"/>
                </a:solidFill>
                <a:latin typeface="Poppins"/>
                <a:ea typeface="Poppins"/>
                <a:cs typeface="Poppins"/>
              </a:rPr>
              <a:t>Part 2</a:t>
            </a:r>
          </a:p>
        </p:txBody>
      </p:sp>
      <p:sp>
        <p:nvSpPr>
          <p:cNvPr id="9" name="TextBox 8"/>
          <p:cNvSpPr txBox="1"/>
          <p:nvPr/>
        </p:nvSpPr>
        <p:spPr>
          <a:xfrm>
            <a:off x="1850517" y="5560000"/>
            <a:ext cx="14506966" cy="900000"/>
          </a:xfrm>
          <a:prstGeom prst="rect">
            <a:avLst/>
          </a:prstGeom>
          <a:noFill/>
        </p:spPr>
        <p:txBody>
          <a:bodyPr wrap="square" lIns="0" tIns="0" rIns="0" bIns="0" anchor="t">
            <a:spAutoFit/>
          </a:bodyPr>
          <a:lstStyle/>
          <a:p>
            <a:pPr algn="l">
              <a:spcAft>
                <a:spcPts val="400"/>
              </a:spcAft>
            </a:pPr>
            <a:r>
              <a:rPr sz="2600" b="0" i="0">
                <a:solidFill>
                  <a:srgbClr val="1F2430"/>
                </a:solidFill>
                <a:latin typeface="Segoe UI 1"/>
                <a:ea typeface="Segoe UI 1"/>
                <a:cs typeface="Segoe UI 1"/>
              </a:rPr>
              <a:t>Operators</a:t>
            </a:r>
          </a:p>
          <a:p>
            <a:pPr algn="l">
              <a:spcAft>
                <a:spcPts val="400"/>
              </a:spcAft>
            </a:pPr>
            <a:r>
              <a:rPr sz="1600" b="0" i="0">
                <a:solidFill>
                  <a:srgbClr val="5A6072"/>
                </a:solidFill>
                <a:latin typeface="Poppins"/>
                <a:ea typeface="Poppins"/>
                <a:cs typeface="Poppins"/>
              </a:rPr>
              <a:t>Arithmetic, relational, logical and bitwise. Practices 8 to 11.</a:t>
            </a:r>
          </a:p>
        </p:txBody>
      </p:sp>
      <p:sp>
        <p:nvSpPr>
          <p:cNvPr id="10" name="Rounded Rectangle 9"/>
          <p:cNvSpPr/>
          <p:nvPr/>
        </p:nvSpPr>
        <p:spPr>
          <a:xfrm>
            <a:off x="1290517" y="6940000"/>
            <a:ext cx="15706966" cy="178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50517" y="7260000"/>
            <a:ext cx="2200000" cy="600000"/>
          </a:xfrm>
          <a:prstGeom prst="rect">
            <a:avLst/>
          </a:prstGeom>
          <a:noFill/>
        </p:spPr>
        <p:txBody>
          <a:bodyPr wrap="square" lIns="0" tIns="0" rIns="0" bIns="0" anchor="t">
            <a:spAutoFit/>
          </a:bodyPr>
          <a:lstStyle/>
          <a:p>
            <a:pPr algn="l"/>
            <a:r>
              <a:rPr sz="1700" b="1" i="0">
                <a:solidFill>
                  <a:srgbClr val="2E3A6E"/>
                </a:solidFill>
                <a:latin typeface="Poppins"/>
                <a:ea typeface="Poppins"/>
                <a:cs typeface="Poppins"/>
              </a:rPr>
              <a:t>Project</a:t>
            </a:r>
          </a:p>
        </p:txBody>
      </p:sp>
      <p:sp>
        <p:nvSpPr>
          <p:cNvPr id="12" name="TextBox 11"/>
          <p:cNvSpPr txBox="1"/>
          <p:nvPr/>
        </p:nvSpPr>
        <p:spPr>
          <a:xfrm>
            <a:off x="1850517" y="7660000"/>
            <a:ext cx="14506966" cy="900000"/>
          </a:xfrm>
          <a:prstGeom prst="rect">
            <a:avLst/>
          </a:prstGeom>
          <a:noFill/>
        </p:spPr>
        <p:txBody>
          <a:bodyPr wrap="square" lIns="0" tIns="0" rIns="0" bIns="0" anchor="t">
            <a:spAutoFit/>
          </a:bodyPr>
          <a:lstStyle/>
          <a:p>
            <a:pPr algn="l">
              <a:spcAft>
                <a:spcPts val="400"/>
              </a:spcAft>
            </a:pPr>
            <a:r>
              <a:rPr sz="2600" b="0" i="0">
                <a:solidFill>
                  <a:srgbClr val="1F2430"/>
                </a:solidFill>
                <a:latin typeface="Segoe UI 1"/>
                <a:ea typeface="Segoe UI 1"/>
                <a:cs typeface="Segoe UI 1"/>
              </a:rPr>
              <a:t>The restaurant menu</a:t>
            </a:r>
          </a:p>
          <a:p>
            <a:pPr algn="l">
              <a:spcAft>
                <a:spcPts val="400"/>
              </a:spcAft>
            </a:pPr>
            <a:r>
              <a:rPr sz="1600" b="0" i="0">
                <a:solidFill>
                  <a:srgbClr val="5A6072"/>
                </a:solidFill>
                <a:latin typeface="Poppins"/>
                <a:ea typeface="Poppins"/>
                <a:cs typeface="Poppins"/>
              </a:rPr>
              <a:t>A real order-taking program: menu, quantities, totals and a discount rule.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136592" cy="10287000"/>
            <a:chOff x="0" y="0"/>
            <a:chExt cx="1616222" cy="2709333"/>
          </a:xfrm>
        </p:grpSpPr>
        <p:sp>
          <p:nvSpPr>
            <p:cNvPr id="3" name="Freeform 3"/>
            <p:cNvSpPr/>
            <p:nvPr/>
          </p:nvSpPr>
          <p:spPr>
            <a:xfrm>
              <a:off x="0" y="0"/>
              <a:ext cx="1616222" cy="2709333"/>
            </a:xfrm>
            <a:custGeom>
              <a:avLst/>
              <a:gdLst/>
              <a:ahLst/>
              <a:cxnLst/>
              <a:rect l="l" t="t" r="r" b="b"/>
              <a:pathLst>
                <a:path w="1616222" h="2709333">
                  <a:moveTo>
                    <a:pt x="0" y="0"/>
                  </a:moveTo>
                  <a:lnTo>
                    <a:pt x="1616222" y="0"/>
                  </a:lnTo>
                  <a:lnTo>
                    <a:pt x="1616222" y="2709333"/>
                  </a:lnTo>
                  <a:lnTo>
                    <a:pt x="0" y="2709333"/>
                  </a:lnTo>
                  <a:close/>
                </a:path>
              </a:pathLst>
            </a:custGeom>
            <a:solidFill>
              <a:srgbClr val="2D396D"/>
            </a:solidFill>
          </p:spPr>
          <p:txBody>
            <a:bodyPr/>
            <a:lstStyle/>
            <a:p>
              <a:endParaRPr lang="en-US"/>
            </a:p>
          </p:txBody>
        </p:sp>
        <p:sp>
          <p:nvSpPr>
            <p:cNvPr id="4" name="TextBox 4"/>
            <p:cNvSpPr txBox="1"/>
            <p:nvPr/>
          </p:nvSpPr>
          <p:spPr>
            <a:xfrm>
              <a:off x="0" y="-38100"/>
              <a:ext cx="1616222"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C183D7F6-B498-43B3-948B-1728B52AA6E4}">
                <adec:decorative xmlns:adec="http://schemas.microsoft.com/office/drawing/2017/decorative" val="1"/>
              </a:ext>
            </a:extLst>
          </p:cNvPr>
          <p:cNvSpPr/>
          <p:nvPr/>
        </p:nvSpPr>
        <p:spPr>
          <a:xfrm>
            <a:off x="-4458977" y="20468"/>
            <a:ext cx="10595569" cy="9510999"/>
          </a:xfrm>
          <a:custGeom>
            <a:avLst/>
            <a:gdLst/>
            <a:ahLst/>
            <a:cxnLst/>
            <a:rect l="l" t="t" r="r" b="b"/>
            <a:pathLst>
              <a:path w="10595569" h="9510999">
                <a:moveTo>
                  <a:pt x="0" y="0"/>
                </a:moveTo>
                <a:lnTo>
                  <a:pt x="10595569" y="0"/>
                </a:lnTo>
                <a:lnTo>
                  <a:pt x="10595569" y="9510998"/>
                </a:lnTo>
                <a:lnTo>
                  <a:pt x="0" y="9510998"/>
                </a:lnTo>
                <a:lnTo>
                  <a:pt x="0" y="0"/>
                </a:lnTo>
                <a:close/>
              </a:path>
            </a:pathLst>
          </a:custGeom>
          <a:blipFill>
            <a:blip r:embed="rId2">
              <a:alphaModFix amt="4000"/>
            </a:blip>
            <a:stretch>
              <a:fillRect r="-59580"/>
            </a:stretch>
          </a:blipFill>
        </p:spPr>
        <p:txBody>
          <a:bodyPr/>
          <a:lstStyle/>
          <a:p>
            <a:endParaRPr lang="en-US"/>
          </a:p>
        </p:txBody>
      </p:sp>
      <p:sp>
        <p:nvSpPr>
          <p:cNvPr id="6" name="Freeform 6"/>
          <p:cNvSpPr/>
          <p:nvPr/>
        </p:nvSpPr>
        <p:spPr>
          <a:xfrm>
            <a:off x="6136592" y="17678"/>
            <a:ext cx="13664850" cy="10269322"/>
          </a:xfrm>
          <a:custGeom>
            <a:avLst/>
            <a:gdLst/>
            <a:ahLst/>
            <a:cxnLst/>
            <a:rect l="l" t="t" r="r" b="b"/>
            <a:pathLst>
              <a:path w="13664850" h="10269322">
                <a:moveTo>
                  <a:pt x="0" y="0"/>
                </a:moveTo>
                <a:lnTo>
                  <a:pt x="13664850" y="0"/>
                </a:lnTo>
                <a:lnTo>
                  <a:pt x="13664850" y="10269322"/>
                </a:lnTo>
                <a:lnTo>
                  <a:pt x="0" y="10269322"/>
                </a:lnTo>
                <a:lnTo>
                  <a:pt x="0" y="0"/>
                </a:lnTo>
                <a:close/>
              </a:path>
            </a:pathLst>
          </a:custGeom>
          <a:blipFill>
            <a:blip r:embed="rId3"/>
            <a:stretch>
              <a:fillRect l="-16882" r="-16882"/>
            </a:stretch>
          </a:blipFill>
        </p:spPr>
        <p:txBody>
          <a:bodyPr/>
          <a:lstStyle/>
          <a:p>
            <a:endParaRPr lang="en-US"/>
          </a:p>
        </p:txBody>
      </p:sp>
      <p:sp>
        <p:nvSpPr>
          <p:cNvPr id="7" name="TextBox 7"/>
          <p:cNvSpPr txBox="1"/>
          <p:nvPr/>
        </p:nvSpPr>
        <p:spPr>
          <a:xfrm>
            <a:off x="575424" y="2179760"/>
            <a:ext cx="5099084" cy="1943685"/>
          </a:xfrm>
          <a:prstGeom prst="rect">
            <a:avLst/>
          </a:prstGeom>
        </p:spPr>
        <p:txBody>
          <a:bodyPr lIns="0" tIns="0" rIns="0" bIns="0" rtlCol="0" anchor="t">
            <a:spAutoFit/>
          </a:bodyPr>
          <a:lstStyle/>
          <a:p>
            <a:pPr algn="l">
              <a:lnSpc>
                <a:spcPts val="7840"/>
              </a:lnSpc>
            </a:pPr>
            <a:r>
              <a:rPr lang="en-US" sz="4800">
                <a:solidFill>
                  <a:srgbClr val="FFFFFF"/>
                </a:solidFill>
                <a:latin typeface="Segoe UI 1"/>
                <a:ea typeface="Segoe UI 1"/>
                <a:cs typeface="Segoe UI 1"/>
                <a:sym typeface="Segoe UI 1"/>
              </a:rPr>
              <a:t>Strings</a:t>
            </a:r>
          </a:p>
        </p:txBody>
      </p:sp>
      <p:sp>
        <p:nvSpPr>
          <p:cNvPr id="8" name="TextBox 8"/>
          <p:cNvSpPr txBox="1"/>
          <p:nvPr/>
        </p:nvSpPr>
        <p:spPr>
          <a:xfrm>
            <a:off x="575424" y="5415241"/>
            <a:ext cx="4931258" cy="1262941"/>
          </a:xfrm>
          <a:prstGeom prst="rect">
            <a:avLst/>
          </a:prstGeom>
        </p:spPr>
        <p:txBody>
          <a:bodyPr lIns="0" tIns="0" rIns="0" bIns="0" rtlCol="0" anchor="t">
            <a:spAutoFit/>
          </a:bodyPr>
          <a:lstStyle/>
          <a:p>
            <a:pPr algn="l">
              <a:lnSpc>
                <a:spcPts val="3359"/>
              </a:lnSpc>
            </a:pPr>
            <a:r>
              <a:rPr lang="en-US" sz="2000" dirty="0">
                <a:solidFill>
                  <a:srgbClr val="FFFFFF"/>
                </a:solidFill>
                <a:latin typeface="Poppins"/>
                <a:ea typeface="Poppins"/>
                <a:cs typeface="Poppins"/>
                <a:sym typeface="Poppins"/>
              </a:rPr>
              <a:t>Two kinds of text, a toolbox of methods, and the format! macro.</a:t>
            </a:r>
          </a:p>
        </p:txBody>
      </p:sp>
      <p:pic>
        <p:nvPicPr>
          <p:cNvPr id="22" name="Picture 21">
            <a:extLst>
              <a:ext uri="{FF2B5EF4-FFF2-40B4-BE49-F238E27FC236}">
                <a16:creationId xmlns:a16="http://schemas.microsoft.com/office/drawing/2014/main" id="{2E40DB6C-CE29-860F-C4B2-00D8D3F3A6BE}"/>
              </a:ext>
            </a:extLst>
          </p:cNvPr>
          <p:cNvPicPr>
            <a:picLocks noChangeAspect="1"/>
          </p:cNvPicPr>
          <p:nvPr/>
        </p:nvPicPr>
        <p:blipFill>
          <a:blip r:embed="rId4"/>
          <a:stretch>
            <a:fillRect/>
          </a:stretch>
        </p:blipFill>
        <p:spPr>
          <a:xfrm>
            <a:off x="0" y="9363075"/>
            <a:ext cx="19801442" cy="1038225"/>
          </a:xfrm>
          <a:prstGeom prst="rect">
            <a:avLst/>
          </a:prstGeom>
        </p:spPr>
      </p:pic>
      <p:sp>
        <p:nvSpPr>
          <p:cNvPr id="23" name="TextBox 22"/>
          <p:cNvSpPr txBox="1"/>
          <p:nvPr/>
        </p:nvSpPr>
        <p:spPr>
          <a:xfrm>
            <a:off x="575424" y="1580000"/>
            <a:ext cx="4800000" cy="400000"/>
          </a:xfrm>
          <a:prstGeom prst="rect">
            <a:avLst/>
          </a:prstGeom>
          <a:noFill/>
        </p:spPr>
        <p:txBody>
          <a:bodyPr wrap="square" lIns="0" tIns="0" rIns="0" bIns="0" anchor="t">
            <a:spAutoFit/>
          </a:bodyPr>
          <a:lstStyle/>
          <a:p>
            <a:pPr algn="l"/>
            <a:r>
              <a:rPr sz="1500" b="1" i="0">
                <a:solidFill>
                  <a:srgbClr val="C7CEE4"/>
                </a:solidFill>
                <a:latin typeface="Poppins"/>
                <a:ea typeface="Poppins"/>
                <a:cs typeface="Poppins"/>
              </a:rPr>
              <a:t>PART 1 OF 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Two Kinds of Strings</a:t>
            </a:r>
          </a:p>
        </p:txBody>
      </p:sp>
      <p:sp>
        <p:nvSpPr>
          <p:cNvPr id="4" name="Rounded Rectangle 3"/>
          <p:cNvSpPr/>
          <p:nvPr/>
        </p:nvSpPr>
        <p:spPr>
          <a:xfrm>
            <a:off x="1290517" y="2750000"/>
            <a:ext cx="7603483" cy="49000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790517" y="3250000"/>
            <a:ext cx="6603483" cy="4000000"/>
          </a:xfrm>
          <a:prstGeom prst="rect">
            <a:avLst/>
          </a:prstGeom>
          <a:noFill/>
        </p:spPr>
        <p:txBody>
          <a:bodyPr wrap="square" lIns="0" tIns="0" rIns="0" bIns="0" anchor="t">
            <a:spAutoFit/>
          </a:bodyPr>
          <a:lstStyle/>
          <a:p>
            <a:pPr algn="l">
              <a:lnSpc>
                <a:spcPts val="2400"/>
              </a:lnSpc>
              <a:spcAft>
                <a:spcPts val="1200"/>
              </a:spcAft>
            </a:pPr>
            <a:r>
              <a:rPr sz="2400" b="0" i="0">
                <a:solidFill>
                  <a:srgbClr val="2E3A6E"/>
                </a:solidFill>
                <a:latin typeface="Segoe UI 1"/>
                <a:ea typeface="Segoe UI 1"/>
                <a:cs typeface="Segoe UI 1"/>
              </a:rPr>
              <a:t>String literal</a:t>
            </a:r>
          </a:p>
          <a:p>
            <a:pPr algn="l">
              <a:lnSpc>
                <a:spcPts val="2400"/>
              </a:lnSpc>
              <a:spcAft>
                <a:spcPts val="1200"/>
              </a:spcAft>
            </a:pPr>
            <a:r>
              <a:rPr sz="1800" b="1" i="0">
                <a:solidFill>
                  <a:srgbClr val="5A6072"/>
                </a:solidFill>
                <a:latin typeface="Courier New"/>
                <a:ea typeface="Courier New"/>
                <a:cs typeface="Courier New"/>
              </a:rPr>
              <a:t>&amp;str</a:t>
            </a:r>
          </a:p>
          <a:p>
            <a:pPr algn="l">
              <a:lnSpc>
                <a:spcPts val="2400"/>
              </a:lnSpc>
              <a:spcAft>
                <a:spcPts val="1200"/>
              </a:spcAft>
            </a:pPr>
            <a:r>
              <a:rPr sz="1600" b="0" i="0">
                <a:solidFill>
                  <a:srgbClr val="1F2430"/>
                </a:solidFill>
                <a:latin typeface="Poppins"/>
                <a:ea typeface="Poppins"/>
                <a:cs typeface="Poppins"/>
              </a:rPr>
              <a:t>The value is known at compile time, hardcoded into the variable.</a:t>
            </a:r>
          </a:p>
          <a:p>
            <a:pPr algn="l">
              <a:lnSpc>
                <a:spcPts val="2400"/>
              </a:lnSpc>
              <a:spcAft>
                <a:spcPts val="1200"/>
              </a:spcAft>
            </a:pPr>
            <a:r>
              <a:rPr sz="1600" b="0" i="0">
                <a:solidFill>
                  <a:srgbClr val="1F2430"/>
                </a:solidFill>
                <a:latin typeface="Poppins"/>
                <a:ea typeface="Poppins"/>
                <a:cs typeface="Poppins"/>
              </a:rPr>
              <a:t>Lives in the module std::str. Also called a string slice.</a:t>
            </a:r>
          </a:p>
          <a:p>
            <a:pPr algn="l">
              <a:lnSpc>
                <a:spcPts val="2400"/>
              </a:lnSpc>
              <a:spcAft>
                <a:spcPts val="1200"/>
              </a:spcAft>
            </a:pPr>
            <a:r>
              <a:rPr sz="1600" b="0" i="0">
                <a:solidFill>
                  <a:srgbClr val="1F2430"/>
                </a:solidFill>
                <a:latin typeface="Poppins"/>
                <a:ea typeface="Poppins"/>
                <a:cs typeface="Poppins"/>
              </a:rPr>
              <a:t>Static by default: guaranteed valid for the whole program.</a:t>
            </a:r>
          </a:p>
        </p:txBody>
      </p:sp>
      <p:sp>
        <p:nvSpPr>
          <p:cNvPr id="6" name="Rounded Rectangle 5"/>
          <p:cNvSpPr/>
          <p:nvPr/>
        </p:nvSpPr>
        <p:spPr>
          <a:xfrm>
            <a:off x="9394000" y="2750000"/>
            <a:ext cx="7603483" cy="4900000"/>
          </a:xfrm>
          <a:prstGeom prst="roundRect">
            <a:avLst>
              <a:gd name="adj" fmla="val 6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94000" y="3250000"/>
            <a:ext cx="6603483" cy="4000000"/>
          </a:xfrm>
          <a:prstGeom prst="rect">
            <a:avLst/>
          </a:prstGeom>
          <a:noFill/>
        </p:spPr>
        <p:txBody>
          <a:bodyPr wrap="square" lIns="0" tIns="0" rIns="0" bIns="0" anchor="t">
            <a:spAutoFit/>
          </a:bodyPr>
          <a:lstStyle/>
          <a:p>
            <a:pPr algn="l">
              <a:lnSpc>
                <a:spcPts val="2400"/>
              </a:lnSpc>
              <a:spcAft>
                <a:spcPts val="1200"/>
              </a:spcAft>
            </a:pPr>
            <a:r>
              <a:rPr sz="2400" b="0" i="0">
                <a:solidFill>
                  <a:srgbClr val="2E3A6E"/>
                </a:solidFill>
                <a:latin typeface="Segoe UI 1"/>
                <a:ea typeface="Segoe UI 1"/>
                <a:cs typeface="Segoe UI 1"/>
              </a:rPr>
              <a:t>String object</a:t>
            </a:r>
          </a:p>
          <a:p>
            <a:pPr algn="l">
              <a:lnSpc>
                <a:spcPts val="2400"/>
              </a:lnSpc>
              <a:spcAft>
                <a:spcPts val="1200"/>
              </a:spcAft>
            </a:pPr>
            <a:r>
              <a:rPr sz="1800" b="1" i="0">
                <a:solidFill>
                  <a:srgbClr val="5A6072"/>
                </a:solidFill>
                <a:latin typeface="Courier New"/>
                <a:ea typeface="Courier New"/>
                <a:cs typeface="Courier New"/>
              </a:rPr>
              <a:t>String</a:t>
            </a:r>
          </a:p>
          <a:p>
            <a:pPr algn="l">
              <a:lnSpc>
                <a:spcPts val="2400"/>
              </a:lnSpc>
              <a:spcAft>
                <a:spcPts val="1200"/>
              </a:spcAft>
            </a:pPr>
            <a:r>
              <a:rPr sz="1600" b="0" i="0">
                <a:solidFill>
                  <a:srgbClr val="1F2430"/>
                </a:solidFill>
                <a:latin typeface="Poppins"/>
                <a:ea typeface="Poppins"/>
                <a:cs typeface="Poppins"/>
              </a:rPr>
              <a:t>Comes from the Standard Library, not the core language.</a:t>
            </a:r>
          </a:p>
          <a:p>
            <a:pPr algn="l">
              <a:lnSpc>
                <a:spcPts val="2400"/>
              </a:lnSpc>
              <a:spcAft>
                <a:spcPts val="1200"/>
              </a:spcAft>
            </a:pPr>
            <a:r>
              <a:rPr sz="1600" b="0" i="0">
                <a:solidFill>
                  <a:srgbClr val="1F2430"/>
                </a:solidFill>
                <a:latin typeface="Poppins"/>
                <a:ea typeface="Poppins"/>
                <a:cs typeface="Poppins"/>
              </a:rPr>
              <a:t>A growable collection: mutable and UTF-8 encoded.</a:t>
            </a:r>
          </a:p>
          <a:p>
            <a:pPr algn="l">
              <a:lnSpc>
                <a:spcPts val="2400"/>
              </a:lnSpc>
              <a:spcAft>
                <a:spcPts val="1200"/>
              </a:spcAft>
            </a:pPr>
            <a:r>
              <a:rPr sz="1600" b="0" i="0">
                <a:solidFill>
                  <a:srgbClr val="1F2430"/>
                </a:solidFill>
                <a:latin typeface="Poppins"/>
                <a:ea typeface="Poppins"/>
                <a:cs typeface="Poppins"/>
              </a:rPr>
              <a:t>Holds values provided at runtime. Allocated in the heap.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1: String Literals</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Five literals: a name, the university, its address, a department and a school.</a:t>
            </a:r>
          </a:p>
        </p:txBody>
      </p:sp>
      <p:pic>
        <p:nvPicPr>
          <p:cNvPr id="5" name="Picture 4" descr="w6_p1.png"/>
          <p:cNvPicPr>
            <a:picLocks noChangeAspect="1"/>
          </p:cNvPicPr>
          <p:nvPr/>
        </p:nvPicPr>
        <p:blipFill>
          <a:blip r:embed="rId2"/>
          <a:stretch>
            <a:fillRect/>
          </a:stretch>
        </p:blipFill>
        <p:spPr>
          <a:xfrm>
            <a:off x="1290517" y="3046000"/>
            <a:ext cx="11413354" cy="6003999"/>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Hardcoded at compile time</a:t>
            </a:r>
          </a:p>
          <a:p>
            <a:pPr algn="l">
              <a:lnSpc>
                <a:spcPts val="2200"/>
              </a:lnSpc>
              <a:spcAft>
                <a:spcPts val="400"/>
              </a:spcAft>
            </a:pPr>
            <a:r>
              <a:rPr sz="1900" b="1" i="0">
                <a:solidFill>
                  <a:srgbClr val="2E3A6E"/>
                </a:solidFill>
                <a:latin typeface="Courier New"/>
                <a:ea typeface="Courier New"/>
                <a:cs typeface="Courier New"/>
              </a:rPr>
              <a:t>let name = "Aisha Lawal";</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The type behind it is &amp;str</a:t>
            </a:r>
          </a:p>
          <a:p>
            <a:pPr algn="l">
              <a:lnSpc>
                <a:spcPts val="2200"/>
              </a:lnSpc>
              <a:spcAft>
                <a:spcPts val="400"/>
              </a:spcAft>
            </a:pPr>
            <a:r>
              <a:rPr sz="1900" b="1" i="0">
                <a:solidFill>
                  <a:srgbClr val="2E3A6E"/>
                </a:solidFill>
                <a:latin typeface="Courier New"/>
                <a:ea typeface="Courier New"/>
                <a:cs typeface="Courier New"/>
              </a:rPr>
              <a:t>let uni: &amp;str = "Pan-Atlantic University";</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'static spells the guarantee out</a:t>
            </a:r>
          </a:p>
          <a:p>
            <a:pPr algn="l">
              <a:lnSpc>
                <a:spcPts val="2200"/>
              </a:lnSpc>
              <a:spcAft>
                <a:spcPts val="400"/>
              </a:spcAft>
            </a:pPr>
            <a:r>
              <a:rPr sz="1900" b="1" i="0">
                <a:solidFill>
                  <a:srgbClr val="2E3A6E"/>
                </a:solidFill>
                <a:latin typeface="Courier New"/>
                <a:ea typeface="Courier New"/>
                <a:cs typeface="Courier New"/>
              </a:rPr>
              <a:t>let department: &amp;'static str = ...</a:t>
            </a:r>
          </a:p>
          <a:p>
            <a:pPr algn="l">
              <a:lnSpc>
                <a:spcPts val="2200"/>
              </a:lnSpc>
              <a:spcAft>
                <a:spcPts val="400"/>
              </a:spcAft>
            </a:pPr>
            <a:r>
              <a:rPr sz="1400" b="0" i="0">
                <a:solidFill>
                  <a:srgbClr val="5A6072"/>
                </a:solidFill>
                <a:latin typeface="Poppins"/>
                <a:ea typeface="Poppins"/>
                <a:cs typeface="Poppins"/>
              </a:rPr>
              <a:t>The text lives for the entire run of the program.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2: Creating a String Object</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Two ways to make a String object: new() gives you an empty one, from() fills it on arrival.</a:t>
            </a:r>
          </a:p>
        </p:txBody>
      </p:sp>
      <p:pic>
        <p:nvPicPr>
          <p:cNvPr id="5" name="Picture 4" descr="w6_p2.png"/>
          <p:cNvPicPr>
            <a:picLocks noChangeAspect="1"/>
          </p:cNvPicPr>
          <p:nvPr/>
        </p:nvPicPr>
        <p:blipFill>
          <a:blip r:embed="rId2"/>
          <a:stretch>
            <a:fillRect/>
          </a:stretch>
        </p:blipFill>
        <p:spPr>
          <a:xfrm>
            <a:off x="784470" y="4484015"/>
            <a:ext cx="11430000" cy="2889099"/>
          </a:xfrm>
          <a:prstGeom prst="rect">
            <a:avLst/>
          </a:prstGeom>
          <a:ln w="15875">
            <a:solidFill>
              <a:srgbClr val="DDE1EA"/>
            </a:solidFill>
          </a:ln>
          <a:effectLst/>
        </p:spPr>
      </p:pic>
      <p:sp>
        <p:nvSpPr>
          <p:cNvPr id="6" name="Oval 5"/>
          <p:cNvSpPr/>
          <p:nvPr/>
        </p:nvSpPr>
        <p:spPr>
          <a:xfrm>
            <a:off x="12779720" y="40967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411200" y="40767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Empty to start</a:t>
            </a:r>
          </a:p>
          <a:p>
            <a:pPr algn="l">
              <a:lnSpc>
                <a:spcPts val="2200"/>
              </a:lnSpc>
              <a:spcAft>
                <a:spcPts val="400"/>
              </a:spcAft>
            </a:pPr>
            <a:r>
              <a:rPr sz="1900" b="1" i="0">
                <a:solidFill>
                  <a:srgbClr val="2E3A6E"/>
                </a:solidFill>
                <a:latin typeface="Courier New"/>
                <a:ea typeface="Courier New"/>
                <a:cs typeface="Courier New"/>
              </a:rPr>
              <a:t>String::new()</a:t>
            </a:r>
          </a:p>
          <a:p>
            <a:pPr algn="l">
              <a:lnSpc>
                <a:spcPts val="2200"/>
              </a:lnSpc>
              <a:spcAft>
                <a:spcPts val="400"/>
              </a:spcAft>
            </a:pPr>
            <a:r>
              <a:rPr sz="1400" b="0" i="0">
                <a:solidFill>
                  <a:srgbClr val="5A6072"/>
                </a:solidFill>
                <a:latin typeface="Poppins"/>
                <a:ea typeface="Poppins"/>
                <a:cs typeface="Poppins"/>
              </a:rPr>
              <a:t>Length 0.</a:t>
            </a:r>
          </a:p>
        </p:txBody>
      </p:sp>
      <p:sp>
        <p:nvSpPr>
          <p:cNvPr id="8" name="Oval 7"/>
          <p:cNvSpPr/>
          <p:nvPr/>
        </p:nvSpPr>
        <p:spPr>
          <a:xfrm>
            <a:off x="12779720" y="56467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411200" y="5626700"/>
            <a:ext cx="4608403" cy="932307"/>
          </a:xfrm>
          <a:prstGeom prst="rect">
            <a:avLst/>
          </a:prstGeom>
          <a:noFill/>
        </p:spPr>
        <p:txBody>
          <a:bodyPr wrap="square" lIns="0" tIns="0" rIns="0" bIns="0" anchor="t">
            <a:spAutoFit/>
          </a:bodyPr>
          <a:lstStyle/>
          <a:p>
            <a:pPr algn="l">
              <a:lnSpc>
                <a:spcPts val="2200"/>
              </a:lnSpc>
              <a:spcAft>
                <a:spcPts val="400"/>
              </a:spcAft>
            </a:pPr>
            <a:r>
              <a:rPr sz="1800" b="1" i="0" dirty="0">
                <a:solidFill>
                  <a:srgbClr val="1F2430"/>
                </a:solidFill>
                <a:latin typeface="Poppins"/>
                <a:ea typeface="Poppins"/>
                <a:cs typeface="Poppins"/>
              </a:rPr>
              <a:t>Or born with content</a:t>
            </a:r>
          </a:p>
          <a:p>
            <a:pPr algn="l">
              <a:lnSpc>
                <a:spcPts val="2200"/>
              </a:lnSpc>
              <a:spcAft>
                <a:spcPts val="400"/>
              </a:spcAft>
            </a:pPr>
            <a:r>
              <a:rPr sz="1900" b="1" i="0" dirty="0">
                <a:solidFill>
                  <a:srgbClr val="2E3A6E"/>
                </a:solidFill>
                <a:latin typeface="Courier New"/>
                <a:ea typeface="Courier New"/>
                <a:cs typeface="Courier New"/>
              </a:rPr>
              <a:t>String::from("</a:t>
            </a:r>
            <a:r>
              <a:rPr sz="1900" b="1" i="0" dirty="0" err="1">
                <a:solidFill>
                  <a:srgbClr val="2E3A6E"/>
                </a:solidFill>
                <a:latin typeface="Courier New"/>
                <a:ea typeface="Courier New"/>
                <a:cs typeface="Courier New"/>
              </a:rPr>
              <a:t>ComputerScience</a:t>
            </a:r>
            <a:r>
              <a:rPr sz="1900" b="1" i="0" dirty="0">
                <a:solidFill>
                  <a:srgbClr val="2E3A6E"/>
                </a:solidFill>
                <a:latin typeface="Courier New"/>
                <a:ea typeface="Courier New"/>
                <a:cs typeface="Courier New"/>
              </a:rPr>
              <a:t>")</a:t>
            </a:r>
          </a:p>
          <a:p>
            <a:pPr algn="l">
              <a:lnSpc>
                <a:spcPts val="2200"/>
              </a:lnSpc>
              <a:spcAft>
                <a:spcPts val="400"/>
              </a:spcAft>
            </a:pPr>
            <a:r>
              <a:rPr sz="1400" b="0" i="0" dirty="0">
                <a:solidFill>
                  <a:srgbClr val="5A6072"/>
                </a:solidFill>
                <a:latin typeface="Poppins"/>
                <a:ea typeface="Poppins"/>
                <a:cs typeface="Poppins"/>
              </a:rPr>
              <a:t>Length 15.</a:t>
            </a:r>
          </a:p>
        </p:txBody>
      </p:sp>
      <p:sp>
        <p:nvSpPr>
          <p:cNvPr id="10" name="Oval 9"/>
          <p:cNvSpPr/>
          <p:nvPr/>
        </p:nvSpPr>
        <p:spPr>
          <a:xfrm>
            <a:off x="12779720" y="71967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411200" y="71767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len() counts bytes</a:t>
            </a:r>
          </a:p>
          <a:p>
            <a:pPr algn="l">
              <a:lnSpc>
                <a:spcPts val="2200"/>
              </a:lnSpc>
              <a:spcAft>
                <a:spcPts val="400"/>
              </a:spcAft>
            </a:pPr>
            <a:r>
              <a:rPr sz="1900" b="1" i="0">
                <a:solidFill>
                  <a:srgbClr val="2E3A6E"/>
                </a:solidFill>
                <a:latin typeface="Courier New"/>
                <a:ea typeface="Courier New"/>
                <a:cs typeface="Courier New"/>
              </a:rPr>
              <a:t>.len()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The String Toolbox  ·  1 of 2</a:t>
            </a:r>
          </a:p>
        </p:txBody>
      </p:sp>
      <p:sp>
        <p:nvSpPr>
          <p:cNvPr id="4" name="TextBox 3"/>
          <p:cNvSpPr txBox="1"/>
          <p:nvPr/>
        </p:nvSpPr>
        <p:spPr>
          <a:xfrm>
            <a:off x="1290517" y="2286000"/>
            <a:ext cx="15706966" cy="62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Eleven methods you will use all semester. The first six:</a:t>
            </a:r>
          </a:p>
        </p:txBody>
      </p:sp>
      <p:sp>
        <p:nvSpPr>
          <p:cNvPr id="5" name="Rounded Rectangle 4"/>
          <p:cNvSpPr/>
          <p:nvPr/>
        </p:nvSpPr>
        <p:spPr>
          <a:xfrm>
            <a:off x="1290517" y="3006000"/>
            <a:ext cx="15706966" cy="887333"/>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50517" y="3279666"/>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new()</a:t>
            </a:r>
          </a:p>
        </p:txBody>
      </p:sp>
      <p:sp>
        <p:nvSpPr>
          <p:cNvPr id="7" name="TextBox 6"/>
          <p:cNvSpPr txBox="1"/>
          <p:nvPr/>
        </p:nvSpPr>
        <p:spPr>
          <a:xfrm>
            <a:off x="6490517" y="3279666"/>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Creates a new empty String.</a:t>
            </a:r>
          </a:p>
        </p:txBody>
      </p:sp>
      <p:sp>
        <p:nvSpPr>
          <p:cNvPr id="8" name="Rounded Rectangle 7"/>
          <p:cNvSpPr/>
          <p:nvPr/>
        </p:nvSpPr>
        <p:spPr>
          <a:xfrm>
            <a:off x="1290517" y="4013333"/>
            <a:ext cx="15706966" cy="887333"/>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50517" y="4286999"/>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to_string()</a:t>
            </a:r>
          </a:p>
        </p:txBody>
      </p:sp>
      <p:sp>
        <p:nvSpPr>
          <p:cNvPr id="10" name="TextBox 9"/>
          <p:cNvSpPr txBox="1"/>
          <p:nvPr/>
        </p:nvSpPr>
        <p:spPr>
          <a:xfrm>
            <a:off x="6490517" y="4286999"/>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Converts a value into a String.</a:t>
            </a:r>
          </a:p>
        </p:txBody>
      </p:sp>
      <p:sp>
        <p:nvSpPr>
          <p:cNvPr id="11" name="Rounded Rectangle 10"/>
          <p:cNvSpPr/>
          <p:nvPr/>
        </p:nvSpPr>
        <p:spPr>
          <a:xfrm>
            <a:off x="1290517" y="5020666"/>
            <a:ext cx="15706966" cy="887333"/>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850517" y="5294332"/>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replace()</a:t>
            </a:r>
          </a:p>
        </p:txBody>
      </p:sp>
      <p:sp>
        <p:nvSpPr>
          <p:cNvPr id="13" name="TextBox 12"/>
          <p:cNvSpPr txBox="1"/>
          <p:nvPr/>
        </p:nvSpPr>
        <p:spPr>
          <a:xfrm>
            <a:off x="6490517" y="5294332"/>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Swaps every match of a pattern for another string.</a:t>
            </a:r>
          </a:p>
        </p:txBody>
      </p:sp>
      <p:sp>
        <p:nvSpPr>
          <p:cNvPr id="14" name="Rounded Rectangle 13"/>
          <p:cNvSpPr/>
          <p:nvPr/>
        </p:nvSpPr>
        <p:spPr>
          <a:xfrm>
            <a:off x="1290517" y="6027999"/>
            <a:ext cx="15706966" cy="887333"/>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50517" y="6301665"/>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as_str()</a:t>
            </a:r>
          </a:p>
        </p:txBody>
      </p:sp>
      <p:sp>
        <p:nvSpPr>
          <p:cNvPr id="16" name="TextBox 15"/>
          <p:cNvSpPr txBox="1"/>
          <p:nvPr/>
        </p:nvSpPr>
        <p:spPr>
          <a:xfrm>
            <a:off x="6490517" y="6301665"/>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Borrows the whole String as a string slice.</a:t>
            </a:r>
          </a:p>
        </p:txBody>
      </p:sp>
      <p:sp>
        <p:nvSpPr>
          <p:cNvPr id="17" name="Rounded Rectangle 16"/>
          <p:cNvSpPr/>
          <p:nvPr/>
        </p:nvSpPr>
        <p:spPr>
          <a:xfrm>
            <a:off x="1290517" y="7035332"/>
            <a:ext cx="15706966" cy="887333"/>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50517" y="7308998"/>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push()</a:t>
            </a:r>
          </a:p>
        </p:txBody>
      </p:sp>
      <p:sp>
        <p:nvSpPr>
          <p:cNvPr id="19" name="TextBox 18"/>
          <p:cNvSpPr txBox="1"/>
          <p:nvPr/>
        </p:nvSpPr>
        <p:spPr>
          <a:xfrm>
            <a:off x="6490517" y="7308998"/>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Appends a single character to the end.</a:t>
            </a:r>
          </a:p>
        </p:txBody>
      </p:sp>
      <p:sp>
        <p:nvSpPr>
          <p:cNvPr id="20" name="Rounded Rectangle 19"/>
          <p:cNvSpPr/>
          <p:nvPr/>
        </p:nvSpPr>
        <p:spPr>
          <a:xfrm>
            <a:off x="1290517" y="8042665"/>
            <a:ext cx="15706966" cy="887333"/>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850517" y="8316331"/>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push_str()</a:t>
            </a:r>
          </a:p>
        </p:txBody>
      </p:sp>
      <p:sp>
        <p:nvSpPr>
          <p:cNvPr id="22" name="TextBox 21"/>
          <p:cNvSpPr txBox="1"/>
          <p:nvPr/>
        </p:nvSpPr>
        <p:spPr>
          <a:xfrm>
            <a:off x="6490517" y="8316331"/>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Appends a string slice to the end.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The String Toolbox  ·  2 of 2</a:t>
            </a:r>
          </a:p>
        </p:txBody>
      </p:sp>
      <p:sp>
        <p:nvSpPr>
          <p:cNvPr id="4" name="TextBox 3"/>
          <p:cNvSpPr txBox="1"/>
          <p:nvPr/>
        </p:nvSpPr>
        <p:spPr>
          <a:xfrm>
            <a:off x="1290517" y="2286000"/>
            <a:ext cx="15706966" cy="62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And the other five:</a:t>
            </a:r>
          </a:p>
        </p:txBody>
      </p:sp>
      <p:sp>
        <p:nvSpPr>
          <p:cNvPr id="5" name="Rounded Rectangle 4"/>
          <p:cNvSpPr/>
          <p:nvPr/>
        </p:nvSpPr>
        <p:spPr>
          <a:xfrm>
            <a:off x="1290517" y="3006000"/>
            <a:ext cx="15706966" cy="10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50517" y="3336000"/>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len()</a:t>
            </a:r>
          </a:p>
        </p:txBody>
      </p:sp>
      <p:sp>
        <p:nvSpPr>
          <p:cNvPr id="7" name="TextBox 6"/>
          <p:cNvSpPr txBox="1"/>
          <p:nvPr/>
        </p:nvSpPr>
        <p:spPr>
          <a:xfrm>
            <a:off x="6490517" y="3336000"/>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The length of the String, counted in bytes.</a:t>
            </a:r>
          </a:p>
        </p:txBody>
      </p:sp>
      <p:sp>
        <p:nvSpPr>
          <p:cNvPr id="8" name="Rounded Rectangle 7"/>
          <p:cNvSpPr/>
          <p:nvPr/>
        </p:nvSpPr>
        <p:spPr>
          <a:xfrm>
            <a:off x="1290517" y="4126000"/>
            <a:ext cx="15706966" cy="10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50517" y="4456000"/>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trim()</a:t>
            </a:r>
          </a:p>
        </p:txBody>
      </p:sp>
      <p:sp>
        <p:nvSpPr>
          <p:cNvPr id="10" name="TextBox 9"/>
          <p:cNvSpPr txBox="1"/>
          <p:nvPr/>
        </p:nvSpPr>
        <p:spPr>
          <a:xfrm>
            <a:off x="6490517" y="4456000"/>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Strips whitespace from both ends.</a:t>
            </a:r>
          </a:p>
        </p:txBody>
      </p:sp>
      <p:sp>
        <p:nvSpPr>
          <p:cNvPr id="11" name="Rounded Rectangle 10"/>
          <p:cNvSpPr/>
          <p:nvPr/>
        </p:nvSpPr>
        <p:spPr>
          <a:xfrm>
            <a:off x="1290517" y="5246000"/>
            <a:ext cx="15706966" cy="10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850517" y="5576000"/>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split_whitespace()</a:t>
            </a:r>
          </a:p>
        </p:txBody>
      </p:sp>
      <p:sp>
        <p:nvSpPr>
          <p:cNvPr id="13" name="TextBox 12"/>
          <p:cNvSpPr txBox="1"/>
          <p:nvPr/>
        </p:nvSpPr>
        <p:spPr>
          <a:xfrm>
            <a:off x="6490517" y="5576000"/>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Splits on whitespace and returns an iterator.</a:t>
            </a:r>
          </a:p>
        </p:txBody>
      </p:sp>
      <p:sp>
        <p:nvSpPr>
          <p:cNvPr id="14" name="Rounded Rectangle 13"/>
          <p:cNvSpPr/>
          <p:nvPr/>
        </p:nvSpPr>
        <p:spPr>
          <a:xfrm>
            <a:off x="1290517" y="6366000"/>
            <a:ext cx="15706966" cy="10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50517" y="6696000"/>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split()</a:t>
            </a:r>
          </a:p>
        </p:txBody>
      </p:sp>
      <p:sp>
        <p:nvSpPr>
          <p:cNvPr id="16" name="TextBox 15"/>
          <p:cNvSpPr txBox="1"/>
          <p:nvPr/>
        </p:nvSpPr>
        <p:spPr>
          <a:xfrm>
            <a:off x="6490517" y="6696000"/>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Splits wherever a pattern matches: a &amp;str, a char or a closure.</a:t>
            </a:r>
          </a:p>
        </p:txBody>
      </p:sp>
      <p:sp>
        <p:nvSpPr>
          <p:cNvPr id="17" name="Rounded Rectangle 16"/>
          <p:cNvSpPr/>
          <p:nvPr/>
        </p:nvSpPr>
        <p:spPr>
          <a:xfrm>
            <a:off x="1290517" y="7486000"/>
            <a:ext cx="15706966" cy="10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50517" y="7816000"/>
            <a:ext cx="4400000" cy="600000"/>
          </a:xfrm>
          <a:prstGeom prst="rect">
            <a:avLst/>
          </a:prstGeom>
          <a:noFill/>
        </p:spPr>
        <p:txBody>
          <a:bodyPr wrap="square" lIns="0" tIns="0" rIns="0" bIns="0" anchor="t">
            <a:spAutoFit/>
          </a:bodyPr>
          <a:lstStyle/>
          <a:p>
            <a:pPr algn="l"/>
            <a:r>
              <a:rPr sz="2000" b="1" i="0">
                <a:solidFill>
                  <a:srgbClr val="2E3A6E"/>
                </a:solidFill>
                <a:latin typeface="Courier New"/>
                <a:ea typeface="Courier New"/>
                <a:cs typeface="Courier New"/>
              </a:rPr>
              <a:t>chars()</a:t>
            </a:r>
          </a:p>
        </p:txBody>
      </p:sp>
      <p:sp>
        <p:nvSpPr>
          <p:cNvPr id="19" name="TextBox 18"/>
          <p:cNvSpPr txBox="1"/>
          <p:nvPr/>
        </p:nvSpPr>
        <p:spPr>
          <a:xfrm>
            <a:off x="6490517" y="7816000"/>
            <a:ext cx="9906966" cy="700000"/>
          </a:xfrm>
          <a:prstGeom prst="rect">
            <a:avLst/>
          </a:prstGeom>
          <a:noFill/>
        </p:spPr>
        <p:txBody>
          <a:bodyPr wrap="square" lIns="0" tIns="0" rIns="0" bIns="0" anchor="t">
            <a:spAutoFit/>
          </a:bodyPr>
          <a:lstStyle/>
          <a:p>
            <a:pPr algn="l">
              <a:lnSpc>
                <a:spcPts val="2400"/>
              </a:lnSpc>
            </a:pPr>
            <a:r>
              <a:rPr sz="1600" b="0" i="0">
                <a:solidFill>
                  <a:srgbClr val="1F2430"/>
                </a:solidFill>
                <a:latin typeface="Poppins"/>
                <a:ea typeface="Poppins"/>
                <a:cs typeface="Poppins"/>
              </a:rPr>
              <a:t>Iterates over the characters one by 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738664"/>
          </a:xfrm>
          <a:prstGeom prst="rect">
            <a:avLst/>
          </a:prstGeom>
          <a:noFill/>
        </p:spPr>
        <p:txBody>
          <a:bodyPr wrap="square" lIns="0" tIns="0" rIns="0" bIns="0" anchor="t">
            <a:spAutoFit/>
          </a:bodyPr>
          <a:lstStyle/>
          <a:p>
            <a:pPr algn="l"/>
            <a:r>
              <a:rPr sz="4800" b="0" i="0" dirty="0">
                <a:solidFill>
                  <a:srgbClr val="2E3A6E"/>
                </a:solidFill>
                <a:latin typeface="Segoe UI 1"/>
                <a:ea typeface="Segoe UI 1"/>
                <a:cs typeface="Segoe UI 1"/>
              </a:rPr>
              <a:t>Practice 3: replace</a:t>
            </a:r>
            <a:r>
              <a:rPr sz="4800" b="0" i="0" dirty="0">
                <a:solidFill>
                  <a:srgbClr val="2E3A6E"/>
                </a:solidFill>
                <a:latin typeface="Poppins" panose="020B0604020202020204" charset="0"/>
                <a:ea typeface="Sans Serif Collection" panose="020B0502040504020204" pitchFamily="34" charset="0"/>
                <a:cs typeface="Poppins" panose="020B0604020202020204" charset="0"/>
              </a:rPr>
              <a:t>()</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One method, two jobs: renaming a person and renaming a faculty.</a:t>
            </a:r>
          </a:p>
        </p:txBody>
      </p:sp>
      <p:pic>
        <p:nvPicPr>
          <p:cNvPr id="5" name="Picture 4" descr="w6_p3.png"/>
          <p:cNvPicPr>
            <a:picLocks noChangeAspect="1"/>
          </p:cNvPicPr>
          <p:nvPr/>
        </p:nvPicPr>
        <p:blipFill>
          <a:blip r:embed="rId2"/>
          <a:stretch>
            <a:fillRect/>
          </a:stretch>
        </p:blipFill>
        <p:spPr>
          <a:xfrm>
            <a:off x="1290517" y="3533731"/>
            <a:ext cx="11430000" cy="5028538"/>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Find this, put that</a:t>
            </a:r>
          </a:p>
          <a:p>
            <a:pPr algn="l">
              <a:lnSpc>
                <a:spcPts val="2200"/>
              </a:lnSpc>
              <a:spcAft>
                <a:spcPts val="400"/>
              </a:spcAft>
            </a:pPr>
            <a:r>
              <a:rPr sz="1900" b="1" i="0">
                <a:solidFill>
                  <a:srgbClr val="2E3A6E"/>
                </a:solidFill>
                <a:latin typeface="Courier New"/>
                <a:ea typeface="Courier New"/>
                <a:cs typeface="Courier New"/>
              </a:rPr>
              <a:t>name1.replace("Ayomide", "Adebare")</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Every match is swapped</a:t>
            </a:r>
          </a:p>
          <a:p>
            <a:pPr algn="l">
              <a:lnSpc>
                <a:spcPts val="2200"/>
              </a:lnSpc>
              <a:spcAft>
                <a:spcPts val="400"/>
              </a:spcAft>
            </a:pPr>
            <a:r>
              <a:rPr sz="1900" b="1" i="0">
                <a:solidFill>
                  <a:srgbClr val="2E3A6E"/>
                </a:solidFill>
                <a:latin typeface="Courier New"/>
                <a:ea typeface="Courier New"/>
                <a:cs typeface="Courier New"/>
              </a:rPr>
              <a:t>faculty.replace("Faculty", "School")</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The original survives</a:t>
            </a:r>
          </a:p>
          <a:p>
            <a:pPr algn="l">
              <a:lnSpc>
                <a:spcPts val="2200"/>
              </a:lnSpc>
              <a:spcAft>
                <a:spcPts val="400"/>
              </a:spcAft>
            </a:pPr>
            <a:r>
              <a:rPr sz="1400" b="0" i="0">
                <a:solidFill>
                  <a:srgbClr val="5A6072"/>
                </a:solidFill>
                <a:latin typeface="Poppins"/>
                <a:ea typeface="Poppins"/>
                <a:cs typeface="Poppins"/>
              </a:rPr>
              <a:t>replace() returns a new String; name1 is untouched.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738664"/>
          </a:xfrm>
          <a:prstGeom prst="rect">
            <a:avLst/>
          </a:prstGeom>
          <a:noFill/>
        </p:spPr>
        <p:txBody>
          <a:bodyPr wrap="square" lIns="0" tIns="0" rIns="0" bIns="0" anchor="t">
            <a:spAutoFit/>
          </a:bodyPr>
          <a:lstStyle/>
          <a:p>
            <a:pPr algn="l"/>
            <a:r>
              <a:rPr sz="4800" b="0" i="0" dirty="0">
                <a:solidFill>
                  <a:srgbClr val="2E3A6E"/>
                </a:solidFill>
                <a:latin typeface="Segoe UI 1"/>
                <a:ea typeface="Segoe UI 1"/>
                <a:cs typeface="Segoe UI 1"/>
              </a:rPr>
              <a:t>Practice 4: </a:t>
            </a:r>
            <a:r>
              <a:rPr sz="4800" b="0" i="0" dirty="0" err="1">
                <a:solidFill>
                  <a:srgbClr val="2E3A6E"/>
                </a:solidFill>
                <a:latin typeface="Segoe UI 1"/>
                <a:ea typeface="Segoe UI 1"/>
                <a:cs typeface="Segoe UI 1"/>
              </a:rPr>
              <a:t>push_str</a:t>
            </a:r>
            <a:r>
              <a:rPr sz="4800" b="0" i="0" dirty="0">
                <a:solidFill>
                  <a:srgbClr val="2E3A6E"/>
                </a:solidFill>
                <a:latin typeface="Poppins" panose="020B0604020202020204" charset="0"/>
                <a:ea typeface="Segoe UI 1"/>
                <a:cs typeface="Poppins" panose="020B0604020202020204" charset="0"/>
              </a:rPr>
              <a:t>()</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Growing a String in place: School of Science becomes School of Science and Technology.</a:t>
            </a:r>
          </a:p>
        </p:txBody>
      </p:sp>
      <p:pic>
        <p:nvPicPr>
          <p:cNvPr id="5" name="Picture 4" descr="w6_p4.png"/>
          <p:cNvPicPr>
            <a:picLocks noChangeAspect="1"/>
          </p:cNvPicPr>
          <p:nvPr/>
        </p:nvPicPr>
        <p:blipFill>
          <a:blip r:embed="rId2"/>
          <a:stretch>
            <a:fillRect/>
          </a:stretch>
        </p:blipFill>
        <p:spPr>
          <a:xfrm>
            <a:off x="1290517" y="3108611"/>
            <a:ext cx="11430000" cy="5878778"/>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Append to the end</a:t>
            </a:r>
          </a:p>
          <a:p>
            <a:pPr algn="l">
              <a:lnSpc>
                <a:spcPts val="2200"/>
              </a:lnSpc>
              <a:spcAft>
                <a:spcPts val="400"/>
              </a:spcAft>
            </a:pPr>
            <a:r>
              <a:rPr sz="1900" b="1" i="0">
                <a:solidFill>
                  <a:srgbClr val="2E3A6E"/>
                </a:solidFill>
                <a:latin typeface="Courier New"/>
                <a:ea typeface="Courier New"/>
                <a:cs typeface="Courier New"/>
              </a:rPr>
              <a:t>school.push_str(" and Technology")</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Only mut Strings can grow</a:t>
            </a:r>
          </a:p>
          <a:p>
            <a:pPr algn="l">
              <a:lnSpc>
                <a:spcPts val="2200"/>
              </a:lnSpc>
              <a:spcAft>
                <a:spcPts val="400"/>
              </a:spcAft>
            </a:pPr>
            <a:r>
              <a:rPr sz="1900" b="1" i="0">
                <a:solidFill>
                  <a:srgbClr val="2E3A6E"/>
                </a:solidFill>
                <a:latin typeface="Courier New"/>
                <a:ea typeface="Courier New"/>
                <a:cs typeface="Courier New"/>
              </a:rPr>
              <a:t>let mut school = ...</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Measure the result</a:t>
            </a:r>
          </a:p>
          <a:p>
            <a:pPr algn="l">
              <a:lnSpc>
                <a:spcPts val="2200"/>
              </a:lnSpc>
              <a:spcAft>
                <a:spcPts val="400"/>
              </a:spcAft>
            </a:pPr>
            <a:r>
              <a:rPr sz="1900" b="1" i="0">
                <a:solidFill>
                  <a:srgbClr val="2E3A6E"/>
                </a:solidFill>
                <a:latin typeface="Courier New"/>
                <a:ea typeface="Courier New"/>
                <a:cs typeface="Courier New"/>
              </a:rPr>
              <a:t>fullname.len()</a:t>
            </a:r>
          </a:p>
          <a:p>
            <a:pPr algn="l">
              <a:lnSpc>
                <a:spcPts val="2200"/>
              </a:lnSpc>
              <a:spcAft>
                <a:spcPts val="400"/>
              </a:spcAft>
            </a:pPr>
            <a:r>
              <a:rPr sz="1400" b="0" i="0">
                <a:solidFill>
                  <a:srgbClr val="5A6072"/>
                </a:solidFill>
                <a:latin typeface="Poppins"/>
                <a:ea typeface="Poppins"/>
                <a:cs typeface="Poppins"/>
              </a:rPr>
              <a:t>Bytes, spaces included.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738664"/>
          </a:xfrm>
          <a:prstGeom prst="rect">
            <a:avLst/>
          </a:prstGeom>
          <a:noFill/>
        </p:spPr>
        <p:txBody>
          <a:bodyPr wrap="square" lIns="0" tIns="0" rIns="0" bIns="0" anchor="t">
            <a:spAutoFit/>
          </a:bodyPr>
          <a:lstStyle/>
          <a:p>
            <a:pPr algn="l"/>
            <a:r>
              <a:rPr sz="4800" b="0" i="0" dirty="0">
                <a:solidFill>
                  <a:srgbClr val="2E3A6E"/>
                </a:solidFill>
                <a:latin typeface="Segoe UI 1"/>
                <a:ea typeface="Segoe UI 1"/>
                <a:cs typeface="Segoe UI 1"/>
              </a:rPr>
              <a:t>Practice 5: trim</a:t>
            </a:r>
            <a:r>
              <a:rPr sz="4800" b="0" i="0" dirty="0">
                <a:solidFill>
                  <a:srgbClr val="2E3A6E"/>
                </a:solidFill>
                <a:latin typeface="Poppins" panose="020B0604020202020204" charset="0"/>
                <a:ea typeface="Segoe UI 1"/>
                <a:cs typeface="Poppins" panose="020B0604020202020204" charset="0"/>
              </a:rPr>
              <a:t>()</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The method you have quietly used since Week 4, finally explained.</a:t>
            </a:r>
          </a:p>
        </p:txBody>
      </p:sp>
      <p:pic>
        <p:nvPicPr>
          <p:cNvPr id="5" name="Picture 4" descr="w6_p5.png"/>
          <p:cNvPicPr>
            <a:picLocks noChangeAspect="1"/>
          </p:cNvPicPr>
          <p:nvPr/>
        </p:nvPicPr>
        <p:blipFill>
          <a:blip r:embed="rId2"/>
          <a:stretch>
            <a:fillRect/>
          </a:stretch>
        </p:blipFill>
        <p:spPr>
          <a:xfrm>
            <a:off x="1290517" y="3306061"/>
            <a:ext cx="11430000" cy="5483878"/>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4151203" cy="618118"/>
          </a:xfrm>
          <a:prstGeom prst="rect">
            <a:avLst/>
          </a:prstGeom>
          <a:noFill/>
        </p:spPr>
        <p:txBody>
          <a:bodyPr wrap="square" lIns="0" tIns="0" rIns="0" bIns="0" anchor="t">
            <a:spAutoFit/>
          </a:bodyPr>
          <a:lstStyle/>
          <a:p>
            <a:pPr algn="l">
              <a:lnSpc>
                <a:spcPts val="2200"/>
              </a:lnSpc>
              <a:spcAft>
                <a:spcPts val="400"/>
              </a:spcAft>
            </a:pPr>
            <a:r>
              <a:rPr sz="1800" b="1" i="0" dirty="0">
                <a:solidFill>
                  <a:srgbClr val="1F2430"/>
                </a:solidFill>
                <a:latin typeface="Poppins"/>
                <a:ea typeface="Poppins"/>
                <a:cs typeface="Poppins"/>
              </a:rPr>
              <a:t>Spaces hide at both ends</a:t>
            </a:r>
          </a:p>
          <a:p>
            <a:pPr algn="l">
              <a:lnSpc>
                <a:spcPts val="2200"/>
              </a:lnSpc>
              <a:spcAft>
                <a:spcPts val="400"/>
              </a:spcAft>
            </a:pPr>
            <a:r>
              <a:rPr sz="1900" b="1" i="0" dirty="0">
                <a:solidFill>
                  <a:srgbClr val="2E3A6E"/>
                </a:solidFill>
                <a:latin typeface="Courier New"/>
                <a:ea typeface="Courier New"/>
                <a:cs typeface="Courier New"/>
              </a:rPr>
              <a:t>" Pan-Atlantic University "</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trim() cleans the edges</a:t>
            </a:r>
          </a:p>
          <a:p>
            <a:pPr algn="l">
              <a:lnSpc>
                <a:spcPts val="2200"/>
              </a:lnSpc>
              <a:spcAft>
                <a:spcPts val="400"/>
              </a:spcAft>
            </a:pPr>
            <a:r>
              <a:rPr sz="1900" b="1" i="0">
                <a:solidFill>
                  <a:srgbClr val="2E3A6E"/>
                </a:solidFill>
                <a:latin typeface="Courier New"/>
                <a:ea typeface="Courier New"/>
                <a:cs typeface="Courier New"/>
              </a:rPr>
              <a:t>fullname.trim().len()</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Inside spaces survive</a:t>
            </a:r>
          </a:p>
          <a:p>
            <a:pPr algn="l">
              <a:lnSpc>
                <a:spcPts val="2200"/>
              </a:lnSpc>
              <a:spcAft>
                <a:spcPts val="400"/>
              </a:spcAft>
            </a:pPr>
            <a:r>
              <a:rPr sz="1400" b="0" i="0">
                <a:solidFill>
                  <a:srgbClr val="5A6072"/>
                </a:solidFill>
                <a:latin typeface="Poppins"/>
                <a:ea typeface="Poppins"/>
                <a:cs typeface="Poppins"/>
              </a:rPr>
              <a:t>Only leading and trailing whitespace is removed.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6: Concatenation</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Joining Strings with the + operator, and a first taste of references.</a:t>
            </a:r>
          </a:p>
        </p:txBody>
      </p:sp>
      <p:pic>
        <p:nvPicPr>
          <p:cNvPr id="5" name="Picture 4" descr="w6_p6.png"/>
          <p:cNvPicPr>
            <a:picLocks noChangeAspect="1"/>
          </p:cNvPicPr>
          <p:nvPr/>
        </p:nvPicPr>
        <p:blipFill>
          <a:blip r:embed="rId2"/>
          <a:stretch>
            <a:fillRect/>
          </a:stretch>
        </p:blipFill>
        <p:spPr>
          <a:xfrm>
            <a:off x="1290517" y="3046000"/>
            <a:ext cx="9885655" cy="6003999"/>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 joins Strings</a:t>
            </a:r>
          </a:p>
          <a:p>
            <a:pPr algn="l">
              <a:lnSpc>
                <a:spcPts val="2200"/>
              </a:lnSpc>
              <a:spcAft>
                <a:spcPts val="400"/>
              </a:spcAft>
            </a:pPr>
            <a:r>
              <a:rPr sz="1900" b="1" i="0">
                <a:solidFill>
                  <a:srgbClr val="2E3A6E"/>
                </a:solidFill>
                <a:latin typeface="Courier New"/>
                <a:ea typeface="Courier New"/>
                <a:cs typeface="Courier New"/>
              </a:rPr>
              <a:t>let n4 = n1 + &amp;n2 + &amp;n3;</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Mind the &amp;</a:t>
            </a:r>
          </a:p>
          <a:p>
            <a:pPr algn="l">
              <a:lnSpc>
                <a:spcPts val="2200"/>
              </a:lnSpc>
              <a:spcAft>
                <a:spcPts val="400"/>
              </a:spcAft>
            </a:pPr>
            <a:r>
              <a:rPr sz="1400" b="0" i="0">
                <a:solidFill>
                  <a:srgbClr val="5A6072"/>
                </a:solidFill>
                <a:latin typeface="Poppins"/>
                <a:ea typeface="Poppins"/>
                <a:cs typeface="Poppins"/>
              </a:rPr>
              <a:t>After the first String, the others are passed by reference.</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n1 moves into the result</a:t>
            </a:r>
          </a:p>
          <a:p>
            <a:pPr algn="l">
              <a:lnSpc>
                <a:spcPts val="2200"/>
              </a:lnSpc>
              <a:spcAft>
                <a:spcPts val="400"/>
              </a:spcAft>
            </a:pPr>
            <a:r>
              <a:rPr sz="1400" b="0" i="0">
                <a:solidFill>
                  <a:srgbClr val="5A6072"/>
                </a:solidFill>
                <a:latin typeface="Poppins"/>
                <a:ea typeface="Poppins"/>
                <a:cs typeface="Poppins"/>
              </a:rPr>
              <a:t>It cannot be used on its own afterwards. Ownership week explains why.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7: The format! Macro</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Like println!, but the result lands in a variable. Watch what the six pieces spell.</a:t>
            </a:r>
          </a:p>
        </p:txBody>
      </p:sp>
      <p:pic>
        <p:nvPicPr>
          <p:cNvPr id="5" name="Picture 4" descr="w6_p7.png"/>
          <p:cNvPicPr>
            <a:picLocks noChangeAspect="1"/>
          </p:cNvPicPr>
          <p:nvPr/>
        </p:nvPicPr>
        <p:blipFill>
          <a:blip r:embed="rId2"/>
          <a:stretch>
            <a:fillRect/>
          </a:stretch>
        </p:blipFill>
        <p:spPr>
          <a:xfrm>
            <a:off x="1290517" y="3245356"/>
            <a:ext cx="11430000" cy="5605287"/>
          </a:xfrm>
          <a:prstGeom prst="rect">
            <a:avLst/>
          </a:prstGeom>
          <a:ln w="15875">
            <a:solidFill>
              <a:srgbClr val="DDE1EA"/>
            </a:solidFill>
          </a:ln>
          <a:effectLst/>
        </p:spPr>
      </p:pic>
      <p:sp>
        <p:nvSpPr>
          <p:cNvPr id="6" name="Oval 5"/>
          <p:cNvSpPr/>
          <p:nvPr/>
        </p:nvSpPr>
        <p:spPr>
          <a:xfrm>
            <a:off x="13200517" y="3722999"/>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2999"/>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Six Strings in</a:t>
            </a:r>
          </a:p>
          <a:p>
            <a:pPr algn="l">
              <a:lnSpc>
                <a:spcPts val="2200"/>
              </a:lnSpc>
              <a:spcAft>
                <a:spcPts val="400"/>
              </a:spcAft>
            </a:pPr>
            <a:r>
              <a:rPr sz="1900" b="1" i="0">
                <a:solidFill>
                  <a:srgbClr val="2E3A6E"/>
                </a:solidFill>
                <a:latin typeface="Courier New"/>
                <a:ea typeface="Courier New"/>
                <a:cs typeface="Courier New"/>
              </a:rPr>
              <a:t>format!("{} {} {} {} {} {}", k1, ..., k6)</a:t>
            </a:r>
          </a:p>
        </p:txBody>
      </p:sp>
      <p:sp>
        <p:nvSpPr>
          <p:cNvPr id="8" name="Oval 7"/>
          <p:cNvSpPr/>
          <p:nvPr/>
        </p:nvSpPr>
        <p:spPr>
          <a:xfrm>
            <a:off x="13200517" y="5272999"/>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2999"/>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One String out</a:t>
            </a:r>
          </a:p>
          <a:p>
            <a:pPr algn="l">
              <a:lnSpc>
                <a:spcPts val="2200"/>
              </a:lnSpc>
              <a:spcAft>
                <a:spcPts val="400"/>
              </a:spcAft>
            </a:pPr>
            <a:r>
              <a:rPr sz="1400" b="0" i="0">
                <a:solidFill>
                  <a:srgbClr val="5A6072"/>
                </a:solidFill>
                <a:latin typeface="Poppins"/>
                <a:ea typeface="Poppins"/>
                <a:cs typeface="Poppins"/>
              </a:rPr>
              <a:t>format! builds a String instead of printing it.</a:t>
            </a:r>
          </a:p>
        </p:txBody>
      </p:sp>
      <p:sp>
        <p:nvSpPr>
          <p:cNvPr id="10" name="Oval 9"/>
          <p:cNvSpPr/>
          <p:nvPr/>
        </p:nvSpPr>
        <p:spPr>
          <a:xfrm>
            <a:off x="13200517" y="6822999"/>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2999"/>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Print it whenever you like</a:t>
            </a:r>
          </a:p>
          <a:p>
            <a:pPr algn="l">
              <a:lnSpc>
                <a:spcPts val="2200"/>
              </a:lnSpc>
              <a:spcAft>
                <a:spcPts val="400"/>
              </a:spcAft>
            </a:pPr>
            <a:r>
              <a:rPr sz="1900" b="1" i="0">
                <a:solidFill>
                  <a:srgbClr val="2E3A6E"/>
                </a:solidFill>
                <a:latin typeface="Courier New"/>
                <a:ea typeface="Courier New"/>
                <a:cs typeface="Courier New"/>
              </a:rPr>
              <a:t>println!("\n {}", k7);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136592" cy="10287000"/>
            <a:chOff x="0" y="0"/>
            <a:chExt cx="1616222" cy="2709333"/>
          </a:xfrm>
        </p:grpSpPr>
        <p:sp>
          <p:nvSpPr>
            <p:cNvPr id="3" name="Freeform 3"/>
            <p:cNvSpPr/>
            <p:nvPr/>
          </p:nvSpPr>
          <p:spPr>
            <a:xfrm>
              <a:off x="0" y="0"/>
              <a:ext cx="1616222" cy="2709333"/>
            </a:xfrm>
            <a:custGeom>
              <a:avLst/>
              <a:gdLst/>
              <a:ahLst/>
              <a:cxnLst/>
              <a:rect l="l" t="t" r="r" b="b"/>
              <a:pathLst>
                <a:path w="1616222" h="2709333">
                  <a:moveTo>
                    <a:pt x="0" y="0"/>
                  </a:moveTo>
                  <a:lnTo>
                    <a:pt x="1616222" y="0"/>
                  </a:lnTo>
                  <a:lnTo>
                    <a:pt x="1616222" y="2709333"/>
                  </a:lnTo>
                  <a:lnTo>
                    <a:pt x="0" y="2709333"/>
                  </a:lnTo>
                  <a:close/>
                </a:path>
              </a:pathLst>
            </a:custGeom>
            <a:solidFill>
              <a:srgbClr val="2D396D"/>
            </a:solidFill>
          </p:spPr>
          <p:txBody>
            <a:bodyPr/>
            <a:lstStyle/>
            <a:p>
              <a:endParaRPr lang="en-US"/>
            </a:p>
          </p:txBody>
        </p:sp>
        <p:sp>
          <p:nvSpPr>
            <p:cNvPr id="4" name="TextBox 4"/>
            <p:cNvSpPr txBox="1"/>
            <p:nvPr/>
          </p:nvSpPr>
          <p:spPr>
            <a:xfrm>
              <a:off x="0" y="-38100"/>
              <a:ext cx="1616222"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C183D7F6-B498-43B3-948B-1728B52AA6E4}">
                <adec:decorative xmlns:adec="http://schemas.microsoft.com/office/drawing/2017/decorative" val="1"/>
              </a:ext>
            </a:extLst>
          </p:cNvPr>
          <p:cNvSpPr/>
          <p:nvPr/>
        </p:nvSpPr>
        <p:spPr>
          <a:xfrm>
            <a:off x="-4458977" y="20468"/>
            <a:ext cx="10595569" cy="9510999"/>
          </a:xfrm>
          <a:custGeom>
            <a:avLst/>
            <a:gdLst/>
            <a:ahLst/>
            <a:cxnLst/>
            <a:rect l="l" t="t" r="r" b="b"/>
            <a:pathLst>
              <a:path w="10595569" h="9510999">
                <a:moveTo>
                  <a:pt x="0" y="0"/>
                </a:moveTo>
                <a:lnTo>
                  <a:pt x="10595569" y="0"/>
                </a:lnTo>
                <a:lnTo>
                  <a:pt x="10595569" y="9510998"/>
                </a:lnTo>
                <a:lnTo>
                  <a:pt x="0" y="9510998"/>
                </a:lnTo>
                <a:lnTo>
                  <a:pt x="0" y="0"/>
                </a:lnTo>
                <a:close/>
              </a:path>
            </a:pathLst>
          </a:custGeom>
          <a:blipFill>
            <a:blip r:embed="rId2">
              <a:alphaModFix amt="4000"/>
            </a:blip>
            <a:stretch>
              <a:fillRect r="-59580"/>
            </a:stretch>
          </a:blipFill>
        </p:spPr>
        <p:txBody>
          <a:bodyPr/>
          <a:lstStyle/>
          <a:p>
            <a:endParaRPr lang="en-US"/>
          </a:p>
        </p:txBody>
      </p:sp>
      <p:sp>
        <p:nvSpPr>
          <p:cNvPr id="6" name="Freeform 6"/>
          <p:cNvSpPr/>
          <p:nvPr/>
        </p:nvSpPr>
        <p:spPr>
          <a:xfrm>
            <a:off x="6136592" y="17678"/>
            <a:ext cx="13664850" cy="10269322"/>
          </a:xfrm>
          <a:custGeom>
            <a:avLst/>
            <a:gdLst/>
            <a:ahLst/>
            <a:cxnLst/>
            <a:rect l="l" t="t" r="r" b="b"/>
            <a:pathLst>
              <a:path w="13664850" h="10269322">
                <a:moveTo>
                  <a:pt x="0" y="0"/>
                </a:moveTo>
                <a:lnTo>
                  <a:pt x="13664850" y="0"/>
                </a:lnTo>
                <a:lnTo>
                  <a:pt x="13664850" y="10269322"/>
                </a:lnTo>
                <a:lnTo>
                  <a:pt x="0" y="10269322"/>
                </a:lnTo>
                <a:lnTo>
                  <a:pt x="0" y="0"/>
                </a:lnTo>
                <a:close/>
              </a:path>
            </a:pathLst>
          </a:custGeom>
          <a:blipFill>
            <a:blip r:embed="rId3"/>
            <a:stretch>
              <a:fillRect l="-16882" r="-16882"/>
            </a:stretch>
          </a:blipFill>
        </p:spPr>
        <p:txBody>
          <a:bodyPr/>
          <a:lstStyle/>
          <a:p>
            <a:endParaRPr lang="en-US"/>
          </a:p>
        </p:txBody>
      </p:sp>
      <p:sp>
        <p:nvSpPr>
          <p:cNvPr id="7" name="TextBox 7"/>
          <p:cNvSpPr txBox="1"/>
          <p:nvPr/>
        </p:nvSpPr>
        <p:spPr>
          <a:xfrm>
            <a:off x="575424" y="2179760"/>
            <a:ext cx="5099084" cy="1943685"/>
          </a:xfrm>
          <a:prstGeom prst="rect">
            <a:avLst/>
          </a:prstGeom>
        </p:spPr>
        <p:txBody>
          <a:bodyPr lIns="0" tIns="0" rIns="0" bIns="0" rtlCol="0" anchor="t">
            <a:spAutoFit/>
          </a:bodyPr>
          <a:lstStyle/>
          <a:p>
            <a:pPr algn="l">
              <a:lnSpc>
                <a:spcPts val="7840"/>
              </a:lnSpc>
            </a:pPr>
            <a:r>
              <a:rPr lang="en-US" sz="4800">
                <a:solidFill>
                  <a:srgbClr val="FFFFFF"/>
                </a:solidFill>
                <a:latin typeface="Segoe UI 1"/>
                <a:ea typeface="Segoe UI 1"/>
                <a:cs typeface="Segoe UI 1"/>
                <a:sym typeface="Segoe UI 1"/>
              </a:rPr>
              <a:t>Operators</a:t>
            </a:r>
          </a:p>
        </p:txBody>
      </p:sp>
      <p:sp>
        <p:nvSpPr>
          <p:cNvPr id="8" name="TextBox 8"/>
          <p:cNvSpPr txBox="1"/>
          <p:nvPr/>
        </p:nvSpPr>
        <p:spPr>
          <a:xfrm>
            <a:off x="575424" y="5415241"/>
            <a:ext cx="4931258" cy="1262941"/>
          </a:xfrm>
          <a:prstGeom prst="rect">
            <a:avLst/>
          </a:prstGeom>
        </p:spPr>
        <p:txBody>
          <a:bodyPr lIns="0" tIns="0" rIns="0" bIns="0" rtlCol="0" anchor="t">
            <a:spAutoFit/>
          </a:bodyPr>
          <a:lstStyle/>
          <a:p>
            <a:pPr algn="l">
              <a:lnSpc>
                <a:spcPts val="3359"/>
              </a:lnSpc>
            </a:pPr>
            <a:r>
              <a:rPr lang="en-US" sz="2000" dirty="0">
                <a:solidFill>
                  <a:srgbClr val="FFFFFF"/>
                </a:solidFill>
                <a:latin typeface="Poppins"/>
                <a:ea typeface="Poppins"/>
                <a:cs typeface="Poppins"/>
                <a:sym typeface="Poppins"/>
              </a:rPr>
              <a:t>The symbols that do the work: arithmetic, relational, logical and bitwise.</a:t>
            </a:r>
          </a:p>
        </p:txBody>
      </p:sp>
      <p:pic>
        <p:nvPicPr>
          <p:cNvPr id="22" name="Picture 21">
            <a:extLst>
              <a:ext uri="{FF2B5EF4-FFF2-40B4-BE49-F238E27FC236}">
                <a16:creationId xmlns:a16="http://schemas.microsoft.com/office/drawing/2014/main" id="{2E40DB6C-CE29-860F-C4B2-00D8D3F3A6BE}"/>
              </a:ext>
            </a:extLst>
          </p:cNvPr>
          <p:cNvPicPr>
            <a:picLocks noChangeAspect="1"/>
          </p:cNvPicPr>
          <p:nvPr/>
        </p:nvPicPr>
        <p:blipFill>
          <a:blip r:embed="rId4"/>
          <a:stretch>
            <a:fillRect/>
          </a:stretch>
        </p:blipFill>
        <p:spPr>
          <a:xfrm>
            <a:off x="0" y="9363075"/>
            <a:ext cx="19801442" cy="1038225"/>
          </a:xfrm>
          <a:prstGeom prst="rect">
            <a:avLst/>
          </a:prstGeom>
        </p:spPr>
      </p:pic>
      <p:sp>
        <p:nvSpPr>
          <p:cNvPr id="23" name="TextBox 22"/>
          <p:cNvSpPr txBox="1"/>
          <p:nvPr/>
        </p:nvSpPr>
        <p:spPr>
          <a:xfrm>
            <a:off x="575424" y="1580000"/>
            <a:ext cx="4800000" cy="400000"/>
          </a:xfrm>
          <a:prstGeom prst="rect">
            <a:avLst/>
          </a:prstGeom>
          <a:noFill/>
        </p:spPr>
        <p:txBody>
          <a:bodyPr wrap="square" lIns="0" tIns="0" rIns="0" bIns="0" anchor="t">
            <a:spAutoFit/>
          </a:bodyPr>
          <a:lstStyle/>
          <a:p>
            <a:pPr algn="l"/>
            <a:r>
              <a:rPr sz="1500" b="1" i="0">
                <a:solidFill>
                  <a:srgbClr val="C7CEE4"/>
                </a:solidFill>
                <a:latin typeface="Poppins"/>
                <a:ea typeface="Poppins"/>
                <a:cs typeface="Poppins"/>
              </a:rPr>
              <a:t>PART 2 OF 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What is an Operator?</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An operator is a function performed on data. The data it works on are called operands.</a:t>
            </a:r>
          </a:p>
        </p:txBody>
      </p:sp>
      <p:sp>
        <p:nvSpPr>
          <p:cNvPr id="5" name="Rounded Rectangle 4"/>
          <p:cNvSpPr/>
          <p:nvPr/>
        </p:nvSpPr>
        <p:spPr>
          <a:xfrm>
            <a:off x="1290517" y="3350000"/>
            <a:ext cx="15706966" cy="1500000"/>
          </a:xfrm>
          <a:prstGeom prst="roundRect">
            <a:avLst>
              <a:gd name="adj" fmla="val 6000"/>
            </a:avLst>
          </a:prstGeom>
          <a:solidFill>
            <a:srgbClr val="252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90517" y="3830000"/>
            <a:ext cx="14506966" cy="600000"/>
          </a:xfrm>
          <a:prstGeom prst="rect">
            <a:avLst/>
          </a:prstGeom>
          <a:noFill/>
        </p:spPr>
        <p:txBody>
          <a:bodyPr wrap="square" lIns="0" tIns="0" rIns="0" bIns="0" anchor="t">
            <a:spAutoFit/>
          </a:bodyPr>
          <a:lstStyle/>
          <a:p>
            <a:pPr algn="l"/>
            <a:r>
              <a:rPr sz="2400" b="1" i="0">
                <a:solidFill>
                  <a:srgbClr val="FFFFFF"/>
                </a:solidFill>
                <a:latin typeface="Courier New"/>
                <a:ea typeface="Courier New"/>
                <a:cs typeface="Courier New"/>
              </a:rPr>
              <a:t>7 + 5 = 12      </a:t>
            </a:r>
            <a:r>
              <a:rPr sz="1700" b="0" i="0">
                <a:solidFill>
                  <a:srgbClr val="C7CEE4"/>
                </a:solidFill>
                <a:latin typeface="Poppins"/>
                <a:ea typeface="Poppins"/>
                <a:cs typeface="Poppins"/>
              </a:rPr>
              <a:t>7, 5 and 12 are operands.  + and = are operators.</a:t>
            </a:r>
          </a:p>
        </p:txBody>
      </p:sp>
      <p:sp>
        <p:nvSpPr>
          <p:cNvPr id="7" name="Rounded Rectangle 6"/>
          <p:cNvSpPr/>
          <p:nvPr/>
        </p:nvSpPr>
        <p:spPr>
          <a:xfrm>
            <a:off x="1290517" y="5450000"/>
            <a:ext cx="2837393" cy="15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2E3A6E"/>
                </a:solidFill>
                <a:latin typeface="Poppins"/>
                <a:ea typeface="Poppins"/>
                <a:cs typeface="Poppins"/>
              </a:rPr>
              <a:t>Arithmetic</a:t>
            </a:r>
          </a:p>
        </p:txBody>
      </p:sp>
      <p:sp>
        <p:nvSpPr>
          <p:cNvPr id="8" name="Rounded Rectangle 7"/>
          <p:cNvSpPr/>
          <p:nvPr/>
        </p:nvSpPr>
        <p:spPr>
          <a:xfrm>
            <a:off x="4507910" y="5450000"/>
            <a:ext cx="2837393" cy="15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2E3A6E"/>
                </a:solidFill>
                <a:latin typeface="Poppins"/>
                <a:ea typeface="Poppins"/>
                <a:cs typeface="Poppins"/>
              </a:rPr>
              <a:t>Relational</a:t>
            </a:r>
          </a:p>
        </p:txBody>
      </p:sp>
      <p:sp>
        <p:nvSpPr>
          <p:cNvPr id="9" name="Rounded Rectangle 8"/>
          <p:cNvSpPr/>
          <p:nvPr/>
        </p:nvSpPr>
        <p:spPr>
          <a:xfrm>
            <a:off x="7725303" y="5450000"/>
            <a:ext cx="2837393" cy="15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2E3A6E"/>
                </a:solidFill>
                <a:latin typeface="Poppins"/>
                <a:ea typeface="Poppins"/>
                <a:cs typeface="Poppins"/>
              </a:rPr>
              <a:t>Logical</a:t>
            </a:r>
          </a:p>
        </p:txBody>
      </p:sp>
      <p:sp>
        <p:nvSpPr>
          <p:cNvPr id="10" name="Rounded Rectangle 9"/>
          <p:cNvSpPr/>
          <p:nvPr/>
        </p:nvSpPr>
        <p:spPr>
          <a:xfrm>
            <a:off x="10942696" y="5450000"/>
            <a:ext cx="2837393" cy="15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2E3A6E"/>
                </a:solidFill>
                <a:latin typeface="Poppins"/>
                <a:ea typeface="Poppins"/>
                <a:cs typeface="Poppins"/>
              </a:rPr>
              <a:t>Bitwise</a:t>
            </a:r>
          </a:p>
        </p:txBody>
      </p:sp>
      <p:sp>
        <p:nvSpPr>
          <p:cNvPr id="11" name="Rounded Rectangle 10"/>
          <p:cNvSpPr/>
          <p:nvPr/>
        </p:nvSpPr>
        <p:spPr>
          <a:xfrm>
            <a:off x="14160089" y="5450000"/>
            <a:ext cx="2837393" cy="150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i="0">
                <a:solidFill>
                  <a:srgbClr val="2E3A6E"/>
                </a:solidFill>
                <a:latin typeface="Poppins"/>
                <a:ea typeface="Poppins"/>
                <a:cs typeface="Poppins"/>
              </a:rPr>
              <a:t>Conditional</a:t>
            </a:r>
          </a:p>
        </p:txBody>
      </p:sp>
      <p:sp>
        <p:nvSpPr>
          <p:cNvPr id="12" name="TextBox 11"/>
          <p:cNvSpPr txBox="1"/>
          <p:nvPr/>
        </p:nvSpPr>
        <p:spPr>
          <a:xfrm>
            <a:off x="1290517" y="7300000"/>
            <a:ext cx="15706966" cy="500000"/>
          </a:xfrm>
          <a:prstGeom prst="rect">
            <a:avLst/>
          </a:prstGeom>
          <a:noFill/>
        </p:spPr>
        <p:txBody>
          <a:bodyPr wrap="square" lIns="0" tIns="0" rIns="0" bIns="0" anchor="t">
            <a:spAutoFit/>
          </a:bodyPr>
          <a:lstStyle/>
          <a:p>
            <a:pPr algn="l"/>
            <a:r>
              <a:rPr sz="1600" b="0" i="1">
                <a:solidFill>
                  <a:srgbClr val="5A6072"/>
                </a:solidFill>
                <a:latin typeface="Poppins"/>
                <a:ea typeface="Poppins"/>
                <a:cs typeface="Poppins"/>
              </a:rPr>
              <a:t>The first four are today's work. Conditional operators wait for a later week.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Arithmetic Operators</a:t>
            </a:r>
          </a:p>
        </p:txBody>
      </p:sp>
      <p:sp>
        <p:nvSpPr>
          <p:cNvPr id="4" name="TextBox 3"/>
          <p:cNvSpPr txBox="1"/>
          <p:nvPr/>
        </p:nvSpPr>
        <p:spPr>
          <a:xfrm>
            <a:off x="1290517" y="2286000"/>
            <a:ext cx="15706966" cy="62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With a = 10 and b = 5:</a:t>
            </a:r>
          </a:p>
        </p:txBody>
      </p:sp>
      <p:sp>
        <p:nvSpPr>
          <p:cNvPr id="5" name="Rounded Rectangle 4"/>
          <p:cNvSpPr/>
          <p:nvPr/>
        </p:nvSpPr>
        <p:spPr>
          <a:xfrm>
            <a:off x="1290517" y="3106000"/>
            <a:ext cx="15706966" cy="760000"/>
          </a:xfrm>
          <a:prstGeom prst="roundRect">
            <a:avLst>
              <a:gd name="adj" fmla="val 0"/>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10517" y="3326000"/>
            <a:ext cx="20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Operator</a:t>
            </a:r>
          </a:p>
        </p:txBody>
      </p:sp>
      <p:sp>
        <p:nvSpPr>
          <p:cNvPr id="7" name="TextBox 6"/>
          <p:cNvSpPr txBox="1"/>
          <p:nvPr/>
        </p:nvSpPr>
        <p:spPr>
          <a:xfrm>
            <a:off x="4210517" y="3326000"/>
            <a:ext cx="7506966"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What it does</a:t>
            </a:r>
          </a:p>
        </p:txBody>
      </p:sp>
      <p:sp>
        <p:nvSpPr>
          <p:cNvPr id="8" name="TextBox 7"/>
          <p:cNvSpPr txBox="1"/>
          <p:nvPr/>
        </p:nvSpPr>
        <p:spPr>
          <a:xfrm>
            <a:off x="12217483" y="3326000"/>
            <a:ext cx="47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Example</a:t>
            </a:r>
          </a:p>
        </p:txBody>
      </p:sp>
      <p:sp>
        <p:nvSpPr>
          <p:cNvPr id="9" name="Rounded Rectangle 8"/>
          <p:cNvSpPr/>
          <p:nvPr/>
        </p:nvSpPr>
        <p:spPr>
          <a:xfrm>
            <a:off x="1290517" y="386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10517" y="408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1" name="TextBox 10"/>
          <p:cNvSpPr txBox="1"/>
          <p:nvPr/>
        </p:nvSpPr>
        <p:spPr>
          <a:xfrm>
            <a:off x="4210517" y="408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Adds the operands</a:t>
            </a:r>
          </a:p>
        </p:txBody>
      </p:sp>
      <p:sp>
        <p:nvSpPr>
          <p:cNvPr id="12" name="TextBox 11"/>
          <p:cNvSpPr txBox="1"/>
          <p:nvPr/>
        </p:nvSpPr>
        <p:spPr>
          <a:xfrm>
            <a:off x="12217483" y="408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15</a:t>
            </a:r>
          </a:p>
        </p:txBody>
      </p:sp>
      <p:sp>
        <p:nvSpPr>
          <p:cNvPr id="13" name="Rounded Rectangle 12"/>
          <p:cNvSpPr/>
          <p:nvPr/>
        </p:nvSpPr>
        <p:spPr>
          <a:xfrm>
            <a:off x="1290517" y="462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10517" y="484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5" name="TextBox 14"/>
          <p:cNvSpPr txBox="1"/>
          <p:nvPr/>
        </p:nvSpPr>
        <p:spPr>
          <a:xfrm>
            <a:off x="4210517" y="484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Subtracts the second from the first</a:t>
            </a:r>
          </a:p>
        </p:txBody>
      </p:sp>
      <p:sp>
        <p:nvSpPr>
          <p:cNvPr id="16" name="TextBox 15"/>
          <p:cNvSpPr txBox="1"/>
          <p:nvPr/>
        </p:nvSpPr>
        <p:spPr>
          <a:xfrm>
            <a:off x="12217483" y="484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5</a:t>
            </a:r>
          </a:p>
        </p:txBody>
      </p:sp>
      <p:sp>
        <p:nvSpPr>
          <p:cNvPr id="17" name="Rounded Rectangle 16"/>
          <p:cNvSpPr/>
          <p:nvPr/>
        </p:nvSpPr>
        <p:spPr>
          <a:xfrm>
            <a:off x="1290517" y="538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10517" y="560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9" name="TextBox 18"/>
          <p:cNvSpPr txBox="1"/>
          <p:nvPr/>
        </p:nvSpPr>
        <p:spPr>
          <a:xfrm>
            <a:off x="4210517" y="560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Multiplies the operands</a:t>
            </a:r>
          </a:p>
        </p:txBody>
      </p:sp>
      <p:sp>
        <p:nvSpPr>
          <p:cNvPr id="20" name="TextBox 19"/>
          <p:cNvSpPr txBox="1"/>
          <p:nvPr/>
        </p:nvSpPr>
        <p:spPr>
          <a:xfrm>
            <a:off x="12217483" y="560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50</a:t>
            </a:r>
          </a:p>
        </p:txBody>
      </p:sp>
      <p:sp>
        <p:nvSpPr>
          <p:cNvPr id="21" name="Rounded Rectangle 20"/>
          <p:cNvSpPr/>
          <p:nvPr/>
        </p:nvSpPr>
        <p:spPr>
          <a:xfrm>
            <a:off x="1290517" y="614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710517" y="636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23" name="TextBox 22"/>
          <p:cNvSpPr txBox="1"/>
          <p:nvPr/>
        </p:nvSpPr>
        <p:spPr>
          <a:xfrm>
            <a:off x="4210517" y="636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Divides and keeps the quotient</a:t>
            </a:r>
          </a:p>
        </p:txBody>
      </p:sp>
      <p:sp>
        <p:nvSpPr>
          <p:cNvPr id="24" name="TextBox 23"/>
          <p:cNvSpPr txBox="1"/>
          <p:nvPr/>
        </p:nvSpPr>
        <p:spPr>
          <a:xfrm>
            <a:off x="12217483" y="636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2</a:t>
            </a:r>
          </a:p>
        </p:txBody>
      </p:sp>
      <p:sp>
        <p:nvSpPr>
          <p:cNvPr id="25" name="Rounded Rectangle 24"/>
          <p:cNvSpPr/>
          <p:nvPr/>
        </p:nvSpPr>
        <p:spPr>
          <a:xfrm>
            <a:off x="1290517" y="690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0517" y="712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27" name="TextBox 26"/>
          <p:cNvSpPr txBox="1"/>
          <p:nvPr/>
        </p:nvSpPr>
        <p:spPr>
          <a:xfrm>
            <a:off x="4210517" y="712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Divides and keeps the remainder</a:t>
            </a:r>
          </a:p>
        </p:txBody>
      </p:sp>
      <p:sp>
        <p:nvSpPr>
          <p:cNvPr id="28" name="TextBox 27"/>
          <p:cNvSpPr txBox="1"/>
          <p:nvPr/>
        </p:nvSpPr>
        <p:spPr>
          <a:xfrm>
            <a:off x="12217483" y="712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8: Arithmetic</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All five arithmetic operators over the same two numbers.</a:t>
            </a:r>
          </a:p>
        </p:txBody>
      </p:sp>
      <p:pic>
        <p:nvPicPr>
          <p:cNvPr id="5" name="Picture 4" descr="w6_p8.png"/>
          <p:cNvPicPr>
            <a:picLocks noChangeAspect="1"/>
          </p:cNvPicPr>
          <p:nvPr/>
        </p:nvPicPr>
        <p:blipFill>
          <a:blip r:embed="rId2"/>
          <a:stretch>
            <a:fillRect/>
          </a:stretch>
        </p:blipFill>
        <p:spPr>
          <a:xfrm>
            <a:off x="1290517" y="3046000"/>
            <a:ext cx="10533333" cy="6003999"/>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Five operators, one pattern</a:t>
            </a:r>
          </a:p>
          <a:p>
            <a:pPr algn="l">
              <a:lnSpc>
                <a:spcPts val="2200"/>
              </a:lnSpc>
              <a:spcAft>
                <a:spcPts val="400"/>
              </a:spcAft>
            </a:pPr>
            <a:r>
              <a:rPr sz="1900" b="1" i="0">
                <a:solidFill>
                  <a:srgbClr val="2E3A6E"/>
                </a:solidFill>
                <a:latin typeface="Courier New"/>
                <a:ea typeface="Courier New"/>
                <a:cs typeface="Courier New"/>
              </a:rPr>
              <a:t>result = num1 % num2;</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With 10 and 2</a:t>
            </a:r>
          </a:p>
          <a:p>
            <a:pPr algn="l">
              <a:lnSpc>
                <a:spcPts val="2200"/>
              </a:lnSpc>
              <a:spcAft>
                <a:spcPts val="400"/>
              </a:spcAft>
            </a:pPr>
            <a:r>
              <a:rPr sz="1400" b="0" i="0">
                <a:solidFill>
                  <a:srgbClr val="5A6072"/>
                </a:solidFill>
                <a:latin typeface="Poppins"/>
                <a:ea typeface="Poppins"/>
                <a:cs typeface="Poppins"/>
              </a:rPr>
              <a:t>Sum 12, difference 8, product 20, quotient 5, remainder 0.</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Remainder is the quiet star</a:t>
            </a:r>
          </a:p>
          <a:p>
            <a:pPr algn="l">
              <a:lnSpc>
                <a:spcPts val="2200"/>
              </a:lnSpc>
              <a:spcAft>
                <a:spcPts val="400"/>
              </a:spcAft>
            </a:pPr>
            <a:r>
              <a:rPr sz="1400" b="0" i="0">
                <a:solidFill>
                  <a:srgbClr val="5A6072"/>
                </a:solidFill>
                <a:latin typeface="Poppins"/>
                <a:ea typeface="Poppins"/>
                <a:cs typeface="Poppins"/>
              </a:rPr>
              <a:t>You used it in Week 4's Practice 9 without naming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Relational Operators</a:t>
            </a:r>
          </a:p>
        </p:txBody>
      </p:sp>
      <p:sp>
        <p:nvSpPr>
          <p:cNvPr id="4" name="TextBox 3"/>
          <p:cNvSpPr txBox="1"/>
          <p:nvPr/>
        </p:nvSpPr>
        <p:spPr>
          <a:xfrm>
            <a:off x="1290517" y="2286000"/>
            <a:ext cx="15706966" cy="62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They compare two values and answer with a bool. With A = 10 and B = 20:</a:t>
            </a:r>
          </a:p>
        </p:txBody>
      </p:sp>
      <p:sp>
        <p:nvSpPr>
          <p:cNvPr id="5" name="Rounded Rectangle 4"/>
          <p:cNvSpPr/>
          <p:nvPr/>
        </p:nvSpPr>
        <p:spPr>
          <a:xfrm>
            <a:off x="1290517" y="3106000"/>
            <a:ext cx="15706966" cy="760000"/>
          </a:xfrm>
          <a:prstGeom prst="roundRect">
            <a:avLst>
              <a:gd name="adj" fmla="val 0"/>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10517" y="3326000"/>
            <a:ext cx="20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Operator</a:t>
            </a:r>
          </a:p>
        </p:txBody>
      </p:sp>
      <p:sp>
        <p:nvSpPr>
          <p:cNvPr id="7" name="TextBox 6"/>
          <p:cNvSpPr txBox="1"/>
          <p:nvPr/>
        </p:nvSpPr>
        <p:spPr>
          <a:xfrm>
            <a:off x="4210517" y="3326000"/>
            <a:ext cx="7506966"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What it does</a:t>
            </a:r>
          </a:p>
        </p:txBody>
      </p:sp>
      <p:sp>
        <p:nvSpPr>
          <p:cNvPr id="8" name="TextBox 7"/>
          <p:cNvSpPr txBox="1"/>
          <p:nvPr/>
        </p:nvSpPr>
        <p:spPr>
          <a:xfrm>
            <a:off x="12217483" y="3326000"/>
            <a:ext cx="47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Example</a:t>
            </a:r>
          </a:p>
        </p:txBody>
      </p:sp>
      <p:sp>
        <p:nvSpPr>
          <p:cNvPr id="9" name="Rounded Rectangle 8"/>
          <p:cNvSpPr/>
          <p:nvPr/>
        </p:nvSpPr>
        <p:spPr>
          <a:xfrm>
            <a:off x="1290517" y="386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10517" y="408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&gt;</a:t>
            </a:r>
          </a:p>
        </p:txBody>
      </p:sp>
      <p:sp>
        <p:nvSpPr>
          <p:cNvPr id="11" name="TextBox 10"/>
          <p:cNvSpPr txBox="1"/>
          <p:nvPr/>
        </p:nvSpPr>
        <p:spPr>
          <a:xfrm>
            <a:off x="4210517" y="408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Greater than</a:t>
            </a:r>
          </a:p>
        </p:txBody>
      </p:sp>
      <p:sp>
        <p:nvSpPr>
          <p:cNvPr id="12" name="TextBox 11"/>
          <p:cNvSpPr txBox="1"/>
          <p:nvPr/>
        </p:nvSpPr>
        <p:spPr>
          <a:xfrm>
            <a:off x="12217483" y="408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&gt; B is false</a:t>
            </a:r>
          </a:p>
        </p:txBody>
      </p:sp>
      <p:sp>
        <p:nvSpPr>
          <p:cNvPr id="13" name="Rounded Rectangle 12"/>
          <p:cNvSpPr/>
          <p:nvPr/>
        </p:nvSpPr>
        <p:spPr>
          <a:xfrm>
            <a:off x="1290517" y="462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10517" y="484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&lt;</a:t>
            </a:r>
          </a:p>
        </p:txBody>
      </p:sp>
      <p:sp>
        <p:nvSpPr>
          <p:cNvPr id="15" name="TextBox 14"/>
          <p:cNvSpPr txBox="1"/>
          <p:nvPr/>
        </p:nvSpPr>
        <p:spPr>
          <a:xfrm>
            <a:off x="4210517" y="484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Less than</a:t>
            </a:r>
          </a:p>
        </p:txBody>
      </p:sp>
      <p:sp>
        <p:nvSpPr>
          <p:cNvPr id="16" name="TextBox 15"/>
          <p:cNvSpPr txBox="1"/>
          <p:nvPr/>
        </p:nvSpPr>
        <p:spPr>
          <a:xfrm>
            <a:off x="12217483" y="484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&lt; B is true</a:t>
            </a:r>
          </a:p>
        </p:txBody>
      </p:sp>
      <p:sp>
        <p:nvSpPr>
          <p:cNvPr id="17" name="Rounded Rectangle 16"/>
          <p:cNvSpPr/>
          <p:nvPr/>
        </p:nvSpPr>
        <p:spPr>
          <a:xfrm>
            <a:off x="1290517" y="538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10517" y="560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&gt;=</a:t>
            </a:r>
          </a:p>
        </p:txBody>
      </p:sp>
      <p:sp>
        <p:nvSpPr>
          <p:cNvPr id="19" name="TextBox 18"/>
          <p:cNvSpPr txBox="1"/>
          <p:nvPr/>
        </p:nvSpPr>
        <p:spPr>
          <a:xfrm>
            <a:off x="4210517" y="560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Greater than or equal to</a:t>
            </a:r>
          </a:p>
        </p:txBody>
      </p:sp>
      <p:sp>
        <p:nvSpPr>
          <p:cNvPr id="20" name="TextBox 19"/>
          <p:cNvSpPr txBox="1"/>
          <p:nvPr/>
        </p:nvSpPr>
        <p:spPr>
          <a:xfrm>
            <a:off x="12217483" y="560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&gt;= B is false</a:t>
            </a:r>
          </a:p>
        </p:txBody>
      </p:sp>
      <p:sp>
        <p:nvSpPr>
          <p:cNvPr id="21" name="Rounded Rectangle 20"/>
          <p:cNvSpPr/>
          <p:nvPr/>
        </p:nvSpPr>
        <p:spPr>
          <a:xfrm>
            <a:off x="1290517" y="614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710517" y="636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&lt;=</a:t>
            </a:r>
          </a:p>
        </p:txBody>
      </p:sp>
      <p:sp>
        <p:nvSpPr>
          <p:cNvPr id="23" name="TextBox 22"/>
          <p:cNvSpPr txBox="1"/>
          <p:nvPr/>
        </p:nvSpPr>
        <p:spPr>
          <a:xfrm>
            <a:off x="4210517" y="636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Less than or equal to</a:t>
            </a:r>
          </a:p>
        </p:txBody>
      </p:sp>
      <p:sp>
        <p:nvSpPr>
          <p:cNvPr id="24" name="TextBox 23"/>
          <p:cNvSpPr txBox="1"/>
          <p:nvPr/>
        </p:nvSpPr>
        <p:spPr>
          <a:xfrm>
            <a:off x="12217483" y="636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&lt;= B is true</a:t>
            </a:r>
          </a:p>
        </p:txBody>
      </p:sp>
      <p:sp>
        <p:nvSpPr>
          <p:cNvPr id="25" name="Rounded Rectangle 24"/>
          <p:cNvSpPr/>
          <p:nvPr/>
        </p:nvSpPr>
        <p:spPr>
          <a:xfrm>
            <a:off x="1290517" y="690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0517" y="712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27" name="TextBox 26"/>
          <p:cNvSpPr txBox="1"/>
          <p:nvPr/>
        </p:nvSpPr>
        <p:spPr>
          <a:xfrm>
            <a:off x="4210517" y="712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Equal to</a:t>
            </a:r>
          </a:p>
        </p:txBody>
      </p:sp>
      <p:sp>
        <p:nvSpPr>
          <p:cNvPr id="28" name="TextBox 27"/>
          <p:cNvSpPr txBox="1"/>
          <p:nvPr/>
        </p:nvSpPr>
        <p:spPr>
          <a:xfrm>
            <a:off x="12217483" y="712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false</a:t>
            </a:r>
          </a:p>
        </p:txBody>
      </p:sp>
      <p:sp>
        <p:nvSpPr>
          <p:cNvPr id="29" name="Rounded Rectangle 28"/>
          <p:cNvSpPr/>
          <p:nvPr/>
        </p:nvSpPr>
        <p:spPr>
          <a:xfrm>
            <a:off x="1290517" y="766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10517" y="788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31" name="TextBox 30"/>
          <p:cNvSpPr txBox="1"/>
          <p:nvPr/>
        </p:nvSpPr>
        <p:spPr>
          <a:xfrm>
            <a:off x="4210517" y="788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Not equal to</a:t>
            </a:r>
          </a:p>
        </p:txBody>
      </p:sp>
      <p:sp>
        <p:nvSpPr>
          <p:cNvPr id="32" name="TextBox 31"/>
          <p:cNvSpPr txBox="1"/>
          <p:nvPr/>
        </p:nvSpPr>
        <p:spPr>
          <a:xfrm>
            <a:off x="12217483" y="788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true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9: Relational</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Every relational operator, applied to A = 10 and B = 20.</a:t>
            </a:r>
          </a:p>
        </p:txBody>
      </p:sp>
      <p:pic>
        <p:nvPicPr>
          <p:cNvPr id="5" name="Picture 4" descr="w6_p9.png"/>
          <p:cNvPicPr>
            <a:picLocks noChangeAspect="1"/>
          </p:cNvPicPr>
          <p:nvPr/>
        </p:nvPicPr>
        <p:blipFill>
          <a:blip r:embed="rId2"/>
          <a:stretch>
            <a:fillRect/>
          </a:stretch>
        </p:blipFill>
        <p:spPr>
          <a:xfrm>
            <a:off x="1290517" y="3046000"/>
            <a:ext cx="9379639" cy="6003999"/>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Comparisons return bool</a:t>
            </a:r>
          </a:p>
          <a:p>
            <a:pPr algn="l">
              <a:lnSpc>
                <a:spcPts val="2200"/>
              </a:lnSpc>
              <a:spcAft>
                <a:spcPts val="400"/>
              </a:spcAft>
            </a:pPr>
            <a:r>
              <a:rPr sz="1900" b="1" i="0">
                <a:solidFill>
                  <a:srgbClr val="2E3A6E"/>
                </a:solidFill>
                <a:latin typeface="Courier New"/>
                <a:ea typeface="Courier New"/>
                <a:cs typeface="Courier New"/>
              </a:rPr>
              <a:t>let res = A &gt; B;</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Print them straight</a:t>
            </a:r>
          </a:p>
          <a:p>
            <a:pPr algn="l">
              <a:lnSpc>
                <a:spcPts val="2200"/>
              </a:lnSpc>
              <a:spcAft>
                <a:spcPts val="400"/>
              </a:spcAft>
            </a:pPr>
            <a:r>
              <a:rPr sz="1400" b="0" i="0">
                <a:solidFill>
                  <a:srgbClr val="5A6072"/>
                </a:solidFill>
                <a:latin typeface="Poppins"/>
                <a:ea typeface="Poppins"/>
                <a:cs typeface="Poppins"/>
              </a:rPr>
              <a:t>false, true, false, true, false, true, down the list.</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Two easy to confuse</a:t>
            </a:r>
          </a:p>
          <a:p>
            <a:pPr algn="l">
              <a:lnSpc>
                <a:spcPts val="2200"/>
              </a:lnSpc>
              <a:spcAft>
                <a:spcPts val="400"/>
              </a:spcAft>
            </a:pPr>
            <a:r>
              <a:rPr sz="1400" b="0" i="0">
                <a:solidFill>
                  <a:srgbClr val="5A6072"/>
                </a:solidFill>
                <a:latin typeface="Poppins"/>
                <a:ea typeface="Poppins"/>
                <a:cs typeface="Poppins"/>
              </a:rPr>
              <a:t>== asks are they equal. != asks are they different.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Logical Operators</a:t>
            </a:r>
          </a:p>
        </p:txBody>
      </p:sp>
      <p:sp>
        <p:nvSpPr>
          <p:cNvPr id="4" name="TextBox 3"/>
          <p:cNvSpPr txBox="1"/>
          <p:nvPr/>
        </p:nvSpPr>
        <p:spPr>
          <a:xfrm>
            <a:off x="1290517" y="2286000"/>
            <a:ext cx="15706966" cy="62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They combine conditions. With A = 10 and B = 20:</a:t>
            </a:r>
          </a:p>
        </p:txBody>
      </p:sp>
      <p:sp>
        <p:nvSpPr>
          <p:cNvPr id="5" name="Rounded Rectangle 4"/>
          <p:cNvSpPr/>
          <p:nvPr/>
        </p:nvSpPr>
        <p:spPr>
          <a:xfrm>
            <a:off x="1290517" y="3106000"/>
            <a:ext cx="15706966" cy="760000"/>
          </a:xfrm>
          <a:prstGeom prst="roundRect">
            <a:avLst>
              <a:gd name="adj" fmla="val 0"/>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10517" y="3326000"/>
            <a:ext cx="20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Operator</a:t>
            </a:r>
          </a:p>
        </p:txBody>
      </p:sp>
      <p:sp>
        <p:nvSpPr>
          <p:cNvPr id="7" name="TextBox 6"/>
          <p:cNvSpPr txBox="1"/>
          <p:nvPr/>
        </p:nvSpPr>
        <p:spPr>
          <a:xfrm>
            <a:off x="4210517" y="3326000"/>
            <a:ext cx="6106966"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What it does</a:t>
            </a:r>
          </a:p>
        </p:txBody>
      </p:sp>
      <p:sp>
        <p:nvSpPr>
          <p:cNvPr id="8" name="TextBox 7"/>
          <p:cNvSpPr txBox="1"/>
          <p:nvPr/>
        </p:nvSpPr>
        <p:spPr>
          <a:xfrm>
            <a:off x="10817483" y="3326000"/>
            <a:ext cx="61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Example</a:t>
            </a:r>
          </a:p>
        </p:txBody>
      </p:sp>
      <p:sp>
        <p:nvSpPr>
          <p:cNvPr id="9" name="Rounded Rectangle 8"/>
          <p:cNvSpPr/>
          <p:nvPr/>
        </p:nvSpPr>
        <p:spPr>
          <a:xfrm>
            <a:off x="1290517" y="386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10517" y="408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&amp;&amp;</a:t>
            </a:r>
          </a:p>
        </p:txBody>
      </p:sp>
      <p:sp>
        <p:nvSpPr>
          <p:cNvPr id="11" name="TextBox 10"/>
          <p:cNvSpPr txBox="1"/>
          <p:nvPr/>
        </p:nvSpPr>
        <p:spPr>
          <a:xfrm>
            <a:off x="4210517" y="4086000"/>
            <a:ext cx="61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True only when every expression is true</a:t>
            </a:r>
          </a:p>
        </p:txBody>
      </p:sp>
      <p:sp>
        <p:nvSpPr>
          <p:cNvPr id="12" name="TextBox 11"/>
          <p:cNvSpPr txBox="1"/>
          <p:nvPr/>
        </p:nvSpPr>
        <p:spPr>
          <a:xfrm>
            <a:off x="10817483" y="4086000"/>
            <a:ext cx="61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&gt; 10 &amp;&amp; B &gt; 10 is false</a:t>
            </a:r>
          </a:p>
        </p:txBody>
      </p:sp>
      <p:sp>
        <p:nvSpPr>
          <p:cNvPr id="13" name="Rounded Rectangle 12"/>
          <p:cNvSpPr/>
          <p:nvPr/>
        </p:nvSpPr>
        <p:spPr>
          <a:xfrm>
            <a:off x="1290517" y="462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10517" y="484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5" name="TextBox 14"/>
          <p:cNvSpPr txBox="1"/>
          <p:nvPr/>
        </p:nvSpPr>
        <p:spPr>
          <a:xfrm>
            <a:off x="4210517" y="4846000"/>
            <a:ext cx="61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True when at least one expression is true</a:t>
            </a:r>
          </a:p>
        </p:txBody>
      </p:sp>
      <p:sp>
        <p:nvSpPr>
          <p:cNvPr id="16" name="TextBox 15"/>
          <p:cNvSpPr txBox="1"/>
          <p:nvPr/>
        </p:nvSpPr>
        <p:spPr>
          <a:xfrm>
            <a:off x="10817483" y="4846000"/>
            <a:ext cx="61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&gt; 10 || B &gt; 10 is true</a:t>
            </a:r>
          </a:p>
        </p:txBody>
      </p:sp>
      <p:sp>
        <p:nvSpPr>
          <p:cNvPr id="17" name="Rounded Rectangle 16"/>
          <p:cNvSpPr/>
          <p:nvPr/>
        </p:nvSpPr>
        <p:spPr>
          <a:xfrm>
            <a:off x="1290517" y="538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10517" y="560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9" name="TextBox 18"/>
          <p:cNvSpPr txBox="1"/>
          <p:nvPr/>
        </p:nvSpPr>
        <p:spPr>
          <a:xfrm>
            <a:off x="4210517" y="5606000"/>
            <a:ext cx="61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Inverts the result</a:t>
            </a:r>
          </a:p>
        </p:txBody>
      </p:sp>
      <p:sp>
        <p:nvSpPr>
          <p:cNvPr id="20" name="TextBox 19"/>
          <p:cNvSpPr txBox="1"/>
          <p:nvPr/>
        </p:nvSpPr>
        <p:spPr>
          <a:xfrm>
            <a:off x="10817483" y="5606000"/>
            <a:ext cx="61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&gt; 10) is true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10: Logical</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The Week 4 ladder used &amp;&amp; already. Here is the full family.</a:t>
            </a:r>
          </a:p>
        </p:txBody>
      </p:sp>
      <p:pic>
        <p:nvPicPr>
          <p:cNvPr id="5" name="Picture 4" descr="w6_p10.png"/>
          <p:cNvPicPr>
            <a:picLocks noChangeAspect="1"/>
          </p:cNvPicPr>
          <p:nvPr/>
        </p:nvPicPr>
        <p:blipFill>
          <a:blip r:embed="rId2"/>
          <a:stretch>
            <a:fillRect/>
          </a:stretch>
        </p:blipFill>
        <p:spPr>
          <a:xfrm>
            <a:off x="1290517" y="3046000"/>
            <a:ext cx="10515385" cy="6003999"/>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&amp;&amp; needs both</a:t>
            </a:r>
          </a:p>
          <a:p>
            <a:pPr algn="l">
              <a:lnSpc>
                <a:spcPts val="2200"/>
              </a:lnSpc>
              <a:spcAft>
                <a:spcPts val="400"/>
              </a:spcAft>
            </a:pPr>
            <a:r>
              <a:rPr sz="1900" b="1" i="0">
                <a:solidFill>
                  <a:srgbClr val="2E3A6E"/>
                </a:solidFill>
                <a:latin typeface="Courier New"/>
                <a:ea typeface="Courier New"/>
                <a:cs typeface="Courier New"/>
              </a:rPr>
              <a:t>(a &gt; 10) &amp;&amp; (b &gt; 10)</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 needs just one</a:t>
            </a:r>
          </a:p>
          <a:p>
            <a:pPr algn="l">
              <a:lnSpc>
                <a:spcPts val="2200"/>
              </a:lnSpc>
              <a:spcAft>
                <a:spcPts val="400"/>
              </a:spcAft>
            </a:pPr>
            <a:r>
              <a:rPr sz="1900" b="1" i="0">
                <a:solidFill>
                  <a:srgbClr val="2E3A6E"/>
                </a:solidFill>
                <a:latin typeface="Courier New"/>
                <a:ea typeface="Courier New"/>
                <a:cs typeface="Courier New"/>
              </a:rPr>
              <a:t>(c &gt; 10) || (d &gt; 10)</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 flips a bool</a:t>
            </a:r>
          </a:p>
          <a:p>
            <a:pPr algn="l">
              <a:lnSpc>
                <a:spcPts val="2200"/>
              </a:lnSpc>
              <a:spcAft>
                <a:spcPts val="400"/>
              </a:spcAft>
            </a:pPr>
            <a:r>
              <a:rPr sz="1900" b="1" i="0">
                <a:solidFill>
                  <a:srgbClr val="2E3A6E"/>
                </a:solidFill>
                <a:latin typeface="Courier New"/>
                <a:ea typeface="Courier New"/>
                <a:cs typeface="Courier New"/>
              </a:rPr>
              <a:t>if !is_elder</a:t>
            </a:r>
          </a:p>
          <a:p>
            <a:pPr algn="l">
              <a:lnSpc>
                <a:spcPts val="2200"/>
              </a:lnSpc>
              <a:spcAft>
                <a:spcPts val="400"/>
              </a:spcAft>
            </a:pPr>
            <a:r>
              <a:rPr sz="1400" b="0" i="0">
                <a:solidFill>
                  <a:srgbClr val="5A6072"/>
                </a:solidFill>
                <a:latin typeface="Poppins"/>
                <a:ea typeface="Poppins"/>
                <a:cs typeface="Poppins"/>
              </a:rPr>
              <a:t>is_elder is false, so !is_elder is true: Not Elder prints.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Bitwise Operators</a:t>
            </a:r>
          </a:p>
        </p:txBody>
      </p:sp>
      <p:sp>
        <p:nvSpPr>
          <p:cNvPr id="4" name="TextBox 3"/>
          <p:cNvSpPr txBox="1"/>
          <p:nvPr/>
        </p:nvSpPr>
        <p:spPr>
          <a:xfrm>
            <a:off x="1290517" y="2286000"/>
            <a:ext cx="15706966" cy="62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They work on integers one bit at a time. With A = 2 (binary 10) and B = 3 (binary 11):</a:t>
            </a:r>
          </a:p>
        </p:txBody>
      </p:sp>
      <p:sp>
        <p:nvSpPr>
          <p:cNvPr id="5" name="Rounded Rectangle 4"/>
          <p:cNvSpPr/>
          <p:nvPr/>
        </p:nvSpPr>
        <p:spPr>
          <a:xfrm>
            <a:off x="1290517" y="3106000"/>
            <a:ext cx="15706966" cy="760000"/>
          </a:xfrm>
          <a:prstGeom prst="roundRect">
            <a:avLst>
              <a:gd name="adj" fmla="val 0"/>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10517" y="3326000"/>
            <a:ext cx="20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Operator</a:t>
            </a:r>
          </a:p>
        </p:txBody>
      </p:sp>
      <p:sp>
        <p:nvSpPr>
          <p:cNvPr id="7" name="TextBox 6"/>
          <p:cNvSpPr txBox="1"/>
          <p:nvPr/>
        </p:nvSpPr>
        <p:spPr>
          <a:xfrm>
            <a:off x="4210517" y="3326000"/>
            <a:ext cx="7506966"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What it does</a:t>
            </a:r>
          </a:p>
        </p:txBody>
      </p:sp>
      <p:sp>
        <p:nvSpPr>
          <p:cNvPr id="8" name="TextBox 7"/>
          <p:cNvSpPr txBox="1"/>
          <p:nvPr/>
        </p:nvSpPr>
        <p:spPr>
          <a:xfrm>
            <a:off x="12217483" y="3326000"/>
            <a:ext cx="4700000" cy="760000"/>
          </a:xfrm>
          <a:prstGeom prst="rect">
            <a:avLst/>
          </a:prstGeom>
          <a:noFill/>
        </p:spPr>
        <p:txBody>
          <a:bodyPr wrap="square" lIns="0" tIns="0" rIns="0" bIns="0" anchor="t">
            <a:spAutoFit/>
          </a:bodyPr>
          <a:lstStyle/>
          <a:p>
            <a:pPr algn="l"/>
            <a:r>
              <a:rPr sz="1600" b="1" i="0">
                <a:solidFill>
                  <a:srgbClr val="FFFFFF"/>
                </a:solidFill>
                <a:latin typeface="Poppins"/>
                <a:ea typeface="Poppins"/>
                <a:cs typeface="Poppins"/>
              </a:rPr>
              <a:t>Example</a:t>
            </a:r>
          </a:p>
        </p:txBody>
      </p:sp>
      <p:sp>
        <p:nvSpPr>
          <p:cNvPr id="9" name="Rounded Rectangle 8"/>
          <p:cNvSpPr/>
          <p:nvPr/>
        </p:nvSpPr>
        <p:spPr>
          <a:xfrm>
            <a:off x="1290517" y="386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10517" y="408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&amp;</a:t>
            </a:r>
          </a:p>
        </p:txBody>
      </p:sp>
      <p:sp>
        <p:nvSpPr>
          <p:cNvPr id="11" name="TextBox 10"/>
          <p:cNvSpPr txBox="1"/>
          <p:nvPr/>
        </p:nvSpPr>
        <p:spPr>
          <a:xfrm>
            <a:off x="4210517" y="408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AND on each pair of bits</a:t>
            </a:r>
          </a:p>
        </p:txBody>
      </p:sp>
      <p:sp>
        <p:nvSpPr>
          <p:cNvPr id="12" name="TextBox 11"/>
          <p:cNvSpPr txBox="1"/>
          <p:nvPr/>
        </p:nvSpPr>
        <p:spPr>
          <a:xfrm>
            <a:off x="12217483" y="408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&amp; B is 2</a:t>
            </a:r>
          </a:p>
        </p:txBody>
      </p:sp>
      <p:sp>
        <p:nvSpPr>
          <p:cNvPr id="13" name="Rounded Rectangle 12"/>
          <p:cNvSpPr/>
          <p:nvPr/>
        </p:nvSpPr>
        <p:spPr>
          <a:xfrm>
            <a:off x="1290517" y="462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10517" y="484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5" name="TextBox 14"/>
          <p:cNvSpPr txBox="1"/>
          <p:nvPr/>
        </p:nvSpPr>
        <p:spPr>
          <a:xfrm>
            <a:off x="4210517" y="484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OR on each pair of bits</a:t>
            </a:r>
          </a:p>
        </p:txBody>
      </p:sp>
      <p:sp>
        <p:nvSpPr>
          <p:cNvPr id="16" name="TextBox 15"/>
          <p:cNvSpPr txBox="1"/>
          <p:nvPr/>
        </p:nvSpPr>
        <p:spPr>
          <a:xfrm>
            <a:off x="12217483" y="484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3</a:t>
            </a:r>
          </a:p>
        </p:txBody>
      </p:sp>
      <p:sp>
        <p:nvSpPr>
          <p:cNvPr id="17" name="Rounded Rectangle 16"/>
          <p:cNvSpPr/>
          <p:nvPr/>
        </p:nvSpPr>
        <p:spPr>
          <a:xfrm>
            <a:off x="1290517" y="538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10517" y="560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19" name="TextBox 18"/>
          <p:cNvSpPr txBox="1"/>
          <p:nvPr/>
        </p:nvSpPr>
        <p:spPr>
          <a:xfrm>
            <a:off x="4210517" y="560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XOR: one or the other, not both</a:t>
            </a:r>
          </a:p>
        </p:txBody>
      </p:sp>
      <p:sp>
        <p:nvSpPr>
          <p:cNvPr id="20" name="TextBox 19"/>
          <p:cNvSpPr txBox="1"/>
          <p:nvPr/>
        </p:nvSpPr>
        <p:spPr>
          <a:xfrm>
            <a:off x="12217483" y="560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 B is 1</a:t>
            </a:r>
          </a:p>
        </p:txBody>
      </p:sp>
      <p:sp>
        <p:nvSpPr>
          <p:cNvPr id="21" name="Rounded Rectangle 20"/>
          <p:cNvSpPr/>
          <p:nvPr/>
        </p:nvSpPr>
        <p:spPr>
          <a:xfrm>
            <a:off x="1290517" y="614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710517" y="636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a:t>
            </a:r>
          </a:p>
        </p:txBody>
      </p:sp>
      <p:sp>
        <p:nvSpPr>
          <p:cNvPr id="23" name="TextBox 22"/>
          <p:cNvSpPr txBox="1"/>
          <p:nvPr/>
        </p:nvSpPr>
        <p:spPr>
          <a:xfrm>
            <a:off x="4210517" y="636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Flips every bit</a:t>
            </a:r>
          </a:p>
        </p:txBody>
      </p:sp>
      <p:sp>
        <p:nvSpPr>
          <p:cNvPr id="24" name="TextBox 23"/>
          <p:cNvSpPr txBox="1"/>
          <p:nvPr/>
        </p:nvSpPr>
        <p:spPr>
          <a:xfrm>
            <a:off x="12217483" y="636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!B is -4</a:t>
            </a:r>
          </a:p>
        </p:txBody>
      </p:sp>
      <p:sp>
        <p:nvSpPr>
          <p:cNvPr id="25" name="Rounded Rectangle 24"/>
          <p:cNvSpPr/>
          <p:nvPr/>
        </p:nvSpPr>
        <p:spPr>
          <a:xfrm>
            <a:off x="1290517" y="6906000"/>
            <a:ext cx="15706966" cy="760000"/>
          </a:xfrm>
          <a:prstGeom prst="roundRect">
            <a:avLst>
              <a:gd name="adj" fmla="val 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710517" y="712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&lt;&lt;</a:t>
            </a:r>
          </a:p>
        </p:txBody>
      </p:sp>
      <p:sp>
        <p:nvSpPr>
          <p:cNvPr id="27" name="TextBox 26"/>
          <p:cNvSpPr txBox="1"/>
          <p:nvPr/>
        </p:nvSpPr>
        <p:spPr>
          <a:xfrm>
            <a:off x="4210517" y="712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Shifts bits left; each place doubles the value</a:t>
            </a:r>
          </a:p>
        </p:txBody>
      </p:sp>
      <p:sp>
        <p:nvSpPr>
          <p:cNvPr id="28" name="TextBox 27"/>
          <p:cNvSpPr txBox="1"/>
          <p:nvPr/>
        </p:nvSpPr>
        <p:spPr>
          <a:xfrm>
            <a:off x="12217483" y="712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&lt;&lt; 1 is 4</a:t>
            </a:r>
          </a:p>
        </p:txBody>
      </p:sp>
      <p:sp>
        <p:nvSpPr>
          <p:cNvPr id="29" name="Rounded Rectangle 28"/>
          <p:cNvSpPr/>
          <p:nvPr/>
        </p:nvSpPr>
        <p:spPr>
          <a:xfrm>
            <a:off x="1290517" y="7666000"/>
            <a:ext cx="15706966" cy="760000"/>
          </a:xfrm>
          <a:prstGeom prst="roundRect">
            <a:avLst>
              <a:gd name="adj" fmla="val 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10517" y="7886000"/>
            <a:ext cx="2000000" cy="760000"/>
          </a:xfrm>
          <a:prstGeom prst="rect">
            <a:avLst/>
          </a:prstGeom>
          <a:noFill/>
        </p:spPr>
        <p:txBody>
          <a:bodyPr wrap="square" lIns="0" tIns="0" rIns="0" bIns="0" anchor="t">
            <a:spAutoFit/>
          </a:bodyPr>
          <a:lstStyle/>
          <a:p>
            <a:pPr algn="l"/>
            <a:r>
              <a:rPr sz="1600" b="1" i="0">
                <a:solidFill>
                  <a:srgbClr val="2E3A6E"/>
                </a:solidFill>
                <a:latin typeface="Courier New"/>
                <a:ea typeface="Courier New"/>
                <a:cs typeface="Courier New"/>
              </a:rPr>
              <a:t>&gt;&gt;</a:t>
            </a:r>
          </a:p>
        </p:txBody>
      </p:sp>
      <p:sp>
        <p:nvSpPr>
          <p:cNvPr id="31" name="TextBox 30"/>
          <p:cNvSpPr txBox="1"/>
          <p:nvPr/>
        </p:nvSpPr>
        <p:spPr>
          <a:xfrm>
            <a:off x="4210517" y="7886000"/>
            <a:ext cx="7506966" cy="760000"/>
          </a:xfrm>
          <a:prstGeom prst="rect">
            <a:avLst/>
          </a:prstGeom>
          <a:noFill/>
        </p:spPr>
        <p:txBody>
          <a:bodyPr wrap="square" lIns="0" tIns="0" rIns="0" bIns="0" anchor="t">
            <a:spAutoFit/>
          </a:bodyPr>
          <a:lstStyle/>
          <a:p>
            <a:pPr algn="l"/>
            <a:r>
              <a:rPr sz="1600" b="0" i="0">
                <a:solidFill>
                  <a:srgbClr val="1F2430"/>
                </a:solidFill>
                <a:latin typeface="Poppins"/>
                <a:ea typeface="Poppins"/>
                <a:cs typeface="Poppins"/>
              </a:rPr>
              <a:t>Shifts bits right; each place halves it</a:t>
            </a:r>
          </a:p>
        </p:txBody>
      </p:sp>
      <p:sp>
        <p:nvSpPr>
          <p:cNvPr id="32" name="TextBox 31"/>
          <p:cNvSpPr txBox="1"/>
          <p:nvPr/>
        </p:nvSpPr>
        <p:spPr>
          <a:xfrm>
            <a:off x="12217483" y="7886000"/>
            <a:ext cx="4700000" cy="760000"/>
          </a:xfrm>
          <a:prstGeom prst="rect">
            <a:avLst/>
          </a:prstGeom>
          <a:noFill/>
        </p:spPr>
        <p:txBody>
          <a:bodyPr wrap="square" lIns="0" tIns="0" rIns="0" bIns="0" anchor="t">
            <a:spAutoFit/>
          </a:bodyPr>
          <a:lstStyle/>
          <a:p>
            <a:pPr algn="l"/>
            <a:r>
              <a:rPr sz="1600" b="0" i="0">
                <a:solidFill>
                  <a:srgbClr val="2E3A6E"/>
                </a:solidFill>
                <a:latin typeface="Courier New"/>
                <a:ea typeface="Courier New"/>
                <a:cs typeface="Courier New"/>
              </a:rPr>
              <a:t>A &gt;&gt; 1 is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Practice 11: Bitwise</a:t>
            </a:r>
          </a:p>
        </p:txBody>
      </p:sp>
      <p:sp>
        <p:nvSpPr>
          <p:cNvPr id="4" name="TextBox 3"/>
          <p:cNvSpPr txBox="1"/>
          <p:nvPr/>
        </p:nvSpPr>
        <p:spPr>
          <a:xfrm>
            <a:off x="1290517" y="2286000"/>
            <a:ext cx="15706966" cy="760000"/>
          </a:xfrm>
          <a:prstGeom prst="rect">
            <a:avLst/>
          </a:prstGeom>
          <a:noFill/>
        </p:spPr>
        <p:txBody>
          <a:bodyPr wrap="square" lIns="0" tIns="0" rIns="0" bIns="0" anchor="t">
            <a:spAutoFit/>
          </a:bodyPr>
          <a:lstStyle/>
          <a:p>
            <a:pPr algn="l">
              <a:lnSpc>
                <a:spcPts val="2600"/>
              </a:lnSpc>
            </a:pPr>
            <a:r>
              <a:rPr sz="1700" b="0" i="0">
                <a:solidFill>
                  <a:srgbClr val="1F2430"/>
                </a:solidFill>
                <a:latin typeface="Poppins"/>
                <a:ea typeface="Poppins"/>
                <a:cs typeface="Poppins"/>
              </a:rPr>
              <a:t>The same two small numbers, worked on bit by bit.</a:t>
            </a:r>
          </a:p>
        </p:txBody>
      </p:sp>
      <p:pic>
        <p:nvPicPr>
          <p:cNvPr id="5" name="Picture 4" descr="w6_p11.png"/>
          <p:cNvPicPr>
            <a:picLocks noChangeAspect="1"/>
          </p:cNvPicPr>
          <p:nvPr/>
        </p:nvPicPr>
        <p:blipFill>
          <a:blip r:embed="rId2"/>
          <a:stretch>
            <a:fillRect/>
          </a:stretch>
        </p:blipFill>
        <p:spPr>
          <a:xfrm>
            <a:off x="1290517" y="3046000"/>
            <a:ext cx="10369353" cy="6003999"/>
          </a:xfrm>
          <a:prstGeom prst="rect">
            <a:avLst/>
          </a:prstGeom>
          <a:ln w="15875">
            <a:solidFill>
              <a:srgbClr val="DDE1EA"/>
            </a:solidFill>
          </a:ln>
          <a:effectLst/>
        </p:spPr>
      </p:pic>
      <p:sp>
        <p:nvSpPr>
          <p:cNvPr id="6" name="Oval 5"/>
          <p:cNvSpPr/>
          <p:nvPr/>
        </p:nvSpPr>
        <p:spPr>
          <a:xfrm>
            <a:off x="13200517" y="37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1</a:t>
            </a:r>
          </a:p>
        </p:txBody>
      </p:sp>
      <p:sp>
        <p:nvSpPr>
          <p:cNvPr id="7" name="TextBox 6"/>
          <p:cNvSpPr txBox="1"/>
          <p:nvPr/>
        </p:nvSpPr>
        <p:spPr>
          <a:xfrm>
            <a:off x="13831997" y="37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Think in binary</a:t>
            </a:r>
          </a:p>
          <a:p>
            <a:pPr algn="l">
              <a:lnSpc>
                <a:spcPts val="2200"/>
              </a:lnSpc>
              <a:spcAft>
                <a:spcPts val="400"/>
              </a:spcAft>
            </a:pPr>
            <a:r>
              <a:rPr sz="1400" b="0" i="0">
                <a:solidFill>
                  <a:srgbClr val="5A6072"/>
                </a:solidFill>
                <a:latin typeface="Poppins"/>
                <a:ea typeface="Poppins"/>
                <a:cs typeface="Poppins"/>
              </a:rPr>
              <a:t>2 is 10, 3 is 11. Line the bits up and apply the rule.</a:t>
            </a:r>
          </a:p>
        </p:txBody>
      </p:sp>
      <p:sp>
        <p:nvSpPr>
          <p:cNvPr id="8" name="Oval 7"/>
          <p:cNvSpPr/>
          <p:nvPr/>
        </p:nvSpPr>
        <p:spPr>
          <a:xfrm>
            <a:off x="13200517" y="527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2</a:t>
            </a:r>
          </a:p>
        </p:txBody>
      </p:sp>
      <p:sp>
        <p:nvSpPr>
          <p:cNvPr id="9" name="TextBox 8"/>
          <p:cNvSpPr txBox="1"/>
          <p:nvPr/>
        </p:nvSpPr>
        <p:spPr>
          <a:xfrm>
            <a:off x="13831997" y="525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The pair-wise three</a:t>
            </a:r>
          </a:p>
          <a:p>
            <a:pPr algn="l">
              <a:lnSpc>
                <a:spcPts val="2200"/>
              </a:lnSpc>
              <a:spcAft>
                <a:spcPts val="400"/>
              </a:spcAft>
            </a:pPr>
            <a:r>
              <a:rPr sz="1900" b="1" i="0">
                <a:solidFill>
                  <a:srgbClr val="2E3A6E"/>
                </a:solidFill>
                <a:latin typeface="Courier New"/>
                <a:ea typeface="Courier New"/>
                <a:cs typeface="Courier New"/>
              </a:rPr>
              <a:t>a &amp; b,  a | b,  a ^ b</a:t>
            </a:r>
          </a:p>
        </p:txBody>
      </p:sp>
      <p:sp>
        <p:nvSpPr>
          <p:cNvPr id="10" name="Oval 9"/>
          <p:cNvSpPr/>
          <p:nvPr/>
        </p:nvSpPr>
        <p:spPr>
          <a:xfrm>
            <a:off x="13200517" y="6823000"/>
            <a:ext cx="411480" cy="411480"/>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Poppins"/>
                <a:ea typeface="Poppins"/>
                <a:cs typeface="Poppins"/>
              </a:rPr>
              <a:t>3</a:t>
            </a:r>
          </a:p>
        </p:txBody>
      </p:sp>
      <p:sp>
        <p:nvSpPr>
          <p:cNvPr id="11" name="TextBox 10"/>
          <p:cNvSpPr txBox="1"/>
          <p:nvPr/>
        </p:nvSpPr>
        <p:spPr>
          <a:xfrm>
            <a:off x="13831997" y="6803000"/>
            <a:ext cx="3856003" cy="1550000"/>
          </a:xfrm>
          <a:prstGeom prst="rect">
            <a:avLst/>
          </a:prstGeom>
          <a:noFill/>
        </p:spPr>
        <p:txBody>
          <a:bodyPr wrap="square" lIns="0" tIns="0" rIns="0" bIns="0" anchor="t">
            <a:spAutoFit/>
          </a:bodyPr>
          <a:lstStyle/>
          <a:p>
            <a:pPr algn="l">
              <a:lnSpc>
                <a:spcPts val="2200"/>
              </a:lnSpc>
              <a:spcAft>
                <a:spcPts val="400"/>
              </a:spcAft>
            </a:pPr>
            <a:r>
              <a:rPr sz="1800" b="1" i="0">
                <a:solidFill>
                  <a:srgbClr val="1F2430"/>
                </a:solidFill>
                <a:latin typeface="Poppins"/>
                <a:ea typeface="Poppins"/>
                <a:cs typeface="Poppins"/>
              </a:rPr>
              <a:t>Shifts are arithmetic in disguise</a:t>
            </a:r>
          </a:p>
          <a:p>
            <a:pPr algn="l">
              <a:lnSpc>
                <a:spcPts val="2200"/>
              </a:lnSpc>
              <a:spcAft>
                <a:spcPts val="400"/>
              </a:spcAft>
            </a:pPr>
            <a:r>
              <a:rPr sz="1900" b="1" i="0">
                <a:solidFill>
                  <a:srgbClr val="2E3A6E"/>
                </a:solidFill>
                <a:latin typeface="Courier New"/>
                <a:ea typeface="Courier New"/>
                <a:cs typeface="Courier New"/>
              </a:rPr>
              <a:t>a &lt;&lt; b,  a &gt;&gt; b</a:t>
            </a:r>
          </a:p>
          <a:p>
            <a:pPr algn="l">
              <a:lnSpc>
                <a:spcPts val="2200"/>
              </a:lnSpc>
              <a:spcAft>
                <a:spcPts val="400"/>
              </a:spcAft>
            </a:pPr>
            <a:r>
              <a:rPr sz="1400" b="0" i="0">
                <a:solidFill>
                  <a:srgbClr val="5A6072"/>
                </a:solidFill>
                <a:latin typeface="Poppins"/>
                <a:ea typeface="Poppins"/>
                <a:cs typeface="Poppins"/>
              </a:rPr>
              <a:t>Left doubles per place, right halves.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136592" cy="10287000"/>
            <a:chOff x="0" y="0"/>
            <a:chExt cx="1616222" cy="2709333"/>
          </a:xfrm>
        </p:grpSpPr>
        <p:sp>
          <p:nvSpPr>
            <p:cNvPr id="3" name="Freeform 3"/>
            <p:cNvSpPr/>
            <p:nvPr/>
          </p:nvSpPr>
          <p:spPr>
            <a:xfrm>
              <a:off x="0" y="0"/>
              <a:ext cx="1616222" cy="2709333"/>
            </a:xfrm>
            <a:custGeom>
              <a:avLst/>
              <a:gdLst/>
              <a:ahLst/>
              <a:cxnLst/>
              <a:rect l="l" t="t" r="r" b="b"/>
              <a:pathLst>
                <a:path w="1616222" h="2709333">
                  <a:moveTo>
                    <a:pt x="0" y="0"/>
                  </a:moveTo>
                  <a:lnTo>
                    <a:pt x="1616222" y="0"/>
                  </a:lnTo>
                  <a:lnTo>
                    <a:pt x="1616222" y="2709333"/>
                  </a:lnTo>
                  <a:lnTo>
                    <a:pt x="0" y="2709333"/>
                  </a:lnTo>
                  <a:close/>
                </a:path>
              </a:pathLst>
            </a:custGeom>
            <a:solidFill>
              <a:srgbClr val="2D396D"/>
            </a:solidFill>
          </p:spPr>
          <p:txBody>
            <a:bodyPr/>
            <a:lstStyle/>
            <a:p>
              <a:endParaRPr lang="en-US"/>
            </a:p>
          </p:txBody>
        </p:sp>
        <p:sp>
          <p:nvSpPr>
            <p:cNvPr id="4" name="TextBox 4"/>
            <p:cNvSpPr txBox="1"/>
            <p:nvPr/>
          </p:nvSpPr>
          <p:spPr>
            <a:xfrm>
              <a:off x="0" y="-38100"/>
              <a:ext cx="1616222"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C183D7F6-B498-43B3-948B-1728B52AA6E4}">
                <adec:decorative xmlns:adec="http://schemas.microsoft.com/office/drawing/2017/decorative" val="1"/>
              </a:ext>
            </a:extLst>
          </p:cNvPr>
          <p:cNvSpPr/>
          <p:nvPr/>
        </p:nvSpPr>
        <p:spPr>
          <a:xfrm>
            <a:off x="-4458977" y="20468"/>
            <a:ext cx="10595569" cy="9510999"/>
          </a:xfrm>
          <a:custGeom>
            <a:avLst/>
            <a:gdLst/>
            <a:ahLst/>
            <a:cxnLst/>
            <a:rect l="l" t="t" r="r" b="b"/>
            <a:pathLst>
              <a:path w="10595569" h="9510999">
                <a:moveTo>
                  <a:pt x="0" y="0"/>
                </a:moveTo>
                <a:lnTo>
                  <a:pt x="10595569" y="0"/>
                </a:lnTo>
                <a:lnTo>
                  <a:pt x="10595569" y="9510998"/>
                </a:lnTo>
                <a:lnTo>
                  <a:pt x="0" y="9510998"/>
                </a:lnTo>
                <a:lnTo>
                  <a:pt x="0" y="0"/>
                </a:lnTo>
                <a:close/>
              </a:path>
            </a:pathLst>
          </a:custGeom>
          <a:blipFill>
            <a:blip r:embed="rId2">
              <a:alphaModFix amt="4000"/>
            </a:blip>
            <a:stretch>
              <a:fillRect r="-59580"/>
            </a:stretch>
          </a:blipFill>
        </p:spPr>
        <p:txBody>
          <a:bodyPr/>
          <a:lstStyle/>
          <a:p>
            <a:endParaRPr lang="en-US"/>
          </a:p>
        </p:txBody>
      </p:sp>
      <p:sp>
        <p:nvSpPr>
          <p:cNvPr id="6" name="Freeform 6"/>
          <p:cNvSpPr/>
          <p:nvPr/>
        </p:nvSpPr>
        <p:spPr>
          <a:xfrm>
            <a:off x="6136592" y="17678"/>
            <a:ext cx="13664850" cy="10269322"/>
          </a:xfrm>
          <a:custGeom>
            <a:avLst/>
            <a:gdLst/>
            <a:ahLst/>
            <a:cxnLst/>
            <a:rect l="l" t="t" r="r" b="b"/>
            <a:pathLst>
              <a:path w="13664850" h="10269322">
                <a:moveTo>
                  <a:pt x="0" y="0"/>
                </a:moveTo>
                <a:lnTo>
                  <a:pt x="13664850" y="0"/>
                </a:lnTo>
                <a:lnTo>
                  <a:pt x="13664850" y="10269322"/>
                </a:lnTo>
                <a:lnTo>
                  <a:pt x="0" y="10269322"/>
                </a:lnTo>
                <a:lnTo>
                  <a:pt x="0" y="0"/>
                </a:lnTo>
                <a:close/>
              </a:path>
            </a:pathLst>
          </a:custGeom>
          <a:blipFill>
            <a:blip r:embed="rId3"/>
            <a:stretch>
              <a:fillRect l="-16882" r="-16882"/>
            </a:stretch>
          </a:blipFill>
        </p:spPr>
        <p:txBody>
          <a:bodyPr/>
          <a:lstStyle/>
          <a:p>
            <a:endParaRPr lang="en-US"/>
          </a:p>
        </p:txBody>
      </p:sp>
      <p:sp>
        <p:nvSpPr>
          <p:cNvPr id="7" name="TextBox 7"/>
          <p:cNvSpPr txBox="1"/>
          <p:nvPr/>
        </p:nvSpPr>
        <p:spPr>
          <a:xfrm>
            <a:off x="575424" y="2179760"/>
            <a:ext cx="5099084" cy="1943685"/>
          </a:xfrm>
          <a:prstGeom prst="rect">
            <a:avLst/>
          </a:prstGeom>
        </p:spPr>
        <p:txBody>
          <a:bodyPr lIns="0" tIns="0" rIns="0" bIns="0" rtlCol="0" anchor="t">
            <a:spAutoFit/>
          </a:bodyPr>
          <a:lstStyle/>
          <a:p>
            <a:pPr algn="l">
              <a:lnSpc>
                <a:spcPts val="7840"/>
              </a:lnSpc>
            </a:pPr>
            <a:r>
              <a:rPr lang="en-US" sz="4800">
                <a:solidFill>
                  <a:srgbClr val="FFFFFF"/>
                </a:solidFill>
                <a:latin typeface="Segoe UI 1"/>
                <a:ea typeface="Segoe UI 1"/>
                <a:cs typeface="Segoe UI 1"/>
                <a:sym typeface="Segoe UI 1"/>
              </a:rPr>
              <a:t>The Restaurant Menu</a:t>
            </a:r>
          </a:p>
        </p:txBody>
      </p:sp>
      <p:sp>
        <p:nvSpPr>
          <p:cNvPr id="8" name="TextBox 8"/>
          <p:cNvSpPr txBox="1"/>
          <p:nvPr/>
        </p:nvSpPr>
        <p:spPr>
          <a:xfrm>
            <a:off x="575424" y="5415241"/>
            <a:ext cx="4931258" cy="1262941"/>
          </a:xfrm>
          <a:prstGeom prst="rect">
            <a:avLst/>
          </a:prstGeom>
        </p:spPr>
        <p:txBody>
          <a:bodyPr lIns="0" tIns="0" rIns="0" bIns="0" rtlCol="0" anchor="t">
            <a:spAutoFit/>
          </a:bodyPr>
          <a:lstStyle/>
          <a:p>
            <a:pPr algn="l">
              <a:lnSpc>
                <a:spcPts val="3359"/>
              </a:lnSpc>
            </a:pPr>
            <a:r>
              <a:rPr lang="en-US" sz="2000" dirty="0">
                <a:solidFill>
                  <a:srgbClr val="FFFFFF"/>
                </a:solidFill>
                <a:latin typeface="Poppins"/>
                <a:ea typeface="Poppins"/>
                <a:cs typeface="Poppins"/>
                <a:sym typeface="Poppins"/>
              </a:rPr>
              <a:t>Everything from today plus Week 4, in one order-taking program.</a:t>
            </a:r>
          </a:p>
        </p:txBody>
      </p:sp>
      <p:pic>
        <p:nvPicPr>
          <p:cNvPr id="22" name="Picture 21">
            <a:extLst>
              <a:ext uri="{FF2B5EF4-FFF2-40B4-BE49-F238E27FC236}">
                <a16:creationId xmlns:a16="http://schemas.microsoft.com/office/drawing/2014/main" id="{2E40DB6C-CE29-860F-C4B2-00D8D3F3A6BE}"/>
              </a:ext>
            </a:extLst>
          </p:cNvPr>
          <p:cNvPicPr>
            <a:picLocks noChangeAspect="1"/>
          </p:cNvPicPr>
          <p:nvPr/>
        </p:nvPicPr>
        <p:blipFill>
          <a:blip r:embed="rId4"/>
          <a:stretch>
            <a:fillRect/>
          </a:stretch>
        </p:blipFill>
        <p:spPr>
          <a:xfrm>
            <a:off x="0" y="9363075"/>
            <a:ext cx="19801442" cy="1038225"/>
          </a:xfrm>
          <a:prstGeom prst="rect">
            <a:avLst/>
          </a:prstGeom>
        </p:spPr>
      </p:pic>
      <p:sp>
        <p:nvSpPr>
          <p:cNvPr id="23" name="TextBox 22"/>
          <p:cNvSpPr txBox="1"/>
          <p:nvPr/>
        </p:nvSpPr>
        <p:spPr>
          <a:xfrm>
            <a:off x="575424" y="1580000"/>
            <a:ext cx="4800000" cy="400000"/>
          </a:xfrm>
          <a:prstGeom prst="rect">
            <a:avLst/>
          </a:prstGeom>
          <a:noFill/>
        </p:spPr>
        <p:txBody>
          <a:bodyPr wrap="square" lIns="0" tIns="0" rIns="0" bIns="0" anchor="t">
            <a:spAutoFit/>
          </a:bodyPr>
          <a:lstStyle/>
          <a:p>
            <a:pPr algn="l"/>
            <a:r>
              <a:rPr sz="1500" b="1" i="0">
                <a:solidFill>
                  <a:srgbClr val="C7CEE4"/>
                </a:solidFill>
                <a:latin typeface="Poppins"/>
                <a:ea typeface="Poppins"/>
                <a:cs typeface="Poppins"/>
              </a:rPr>
              <a:t>CLASS PROJECT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16554" y="1179444"/>
            <a:ext cx="424292" cy="424292"/>
          </a:xfrm>
          <a:prstGeom prst="ellipse">
            <a:avLst/>
          </a:prstGeom>
          <a:solidFill>
            <a:srgbClr val="2E3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90517" y="933450"/>
            <a:ext cx="16397483" cy="900000"/>
          </a:xfrm>
          <a:prstGeom prst="rect">
            <a:avLst/>
          </a:prstGeom>
          <a:noFill/>
        </p:spPr>
        <p:txBody>
          <a:bodyPr wrap="square" lIns="0" tIns="0" rIns="0" bIns="0" anchor="t">
            <a:spAutoFit/>
          </a:bodyPr>
          <a:lstStyle/>
          <a:p>
            <a:pPr algn="l"/>
            <a:r>
              <a:rPr sz="4800" b="0" i="0">
                <a:solidFill>
                  <a:srgbClr val="2E3A6E"/>
                </a:solidFill>
                <a:latin typeface="Segoe UI 1"/>
                <a:ea typeface="Segoe UI 1"/>
                <a:cs typeface="Segoe UI 1"/>
              </a:rPr>
              <a:t>Project: The Restaurant Menu</a:t>
            </a:r>
          </a:p>
        </p:txBody>
      </p:sp>
      <p:sp>
        <p:nvSpPr>
          <p:cNvPr id="4" name="TextBox 3"/>
          <p:cNvSpPr txBox="1"/>
          <p:nvPr/>
        </p:nvSpPr>
        <p:spPr>
          <a:xfrm>
            <a:off x="1290517" y="2500000"/>
            <a:ext cx="15706966" cy="1500000"/>
          </a:xfrm>
          <a:prstGeom prst="rect">
            <a:avLst/>
          </a:prstGeom>
          <a:noFill/>
        </p:spPr>
        <p:txBody>
          <a:bodyPr wrap="square" lIns="0" tIns="0" rIns="0" bIns="0" anchor="t">
            <a:spAutoFit/>
          </a:bodyPr>
          <a:lstStyle/>
          <a:p>
            <a:pPr algn="l">
              <a:lnSpc>
                <a:spcPts val="2800"/>
              </a:lnSpc>
            </a:pPr>
            <a:r>
              <a:rPr sz="1700" b="0" i="0">
                <a:solidFill>
                  <a:srgbClr val="1F2430"/>
                </a:solidFill>
                <a:latin typeface="Poppins"/>
                <a:ea typeface="Poppins"/>
                <a:cs typeface="Poppins"/>
              </a:rPr>
              <a:t>Write a Rust program that displays this menu, then reads the food type and quantity from the customer. It computes the total charge, and if the total is greater than N10,000 it gives a 5% discount.</a:t>
            </a:r>
          </a:p>
        </p:txBody>
      </p:sp>
      <p:sp>
        <p:nvSpPr>
          <p:cNvPr id="5" name="Rounded Rectangle 4"/>
          <p:cNvSpPr/>
          <p:nvPr/>
        </p:nvSpPr>
        <p:spPr>
          <a:xfrm>
            <a:off x="1266454" y="3795000"/>
            <a:ext cx="12800000" cy="83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766454" y="4015000"/>
            <a:ext cx="900000" cy="500000"/>
          </a:xfrm>
          <a:prstGeom prst="rect">
            <a:avLst/>
          </a:prstGeom>
          <a:noFill/>
        </p:spPr>
        <p:txBody>
          <a:bodyPr wrap="square" lIns="0" tIns="0" rIns="0" bIns="0" anchor="t">
            <a:spAutoFit/>
          </a:bodyPr>
          <a:lstStyle/>
          <a:p>
            <a:pPr algn="l"/>
            <a:r>
              <a:rPr sz="1900" b="1" i="0">
                <a:solidFill>
                  <a:srgbClr val="2E3A6E"/>
                </a:solidFill>
                <a:latin typeface="Courier New"/>
                <a:ea typeface="Courier New"/>
                <a:cs typeface="Courier New"/>
              </a:rPr>
              <a:t>P</a:t>
            </a:r>
          </a:p>
        </p:txBody>
      </p:sp>
      <p:sp>
        <p:nvSpPr>
          <p:cNvPr id="7" name="TextBox 6"/>
          <p:cNvSpPr txBox="1"/>
          <p:nvPr/>
        </p:nvSpPr>
        <p:spPr>
          <a:xfrm>
            <a:off x="2866454" y="4015000"/>
            <a:ext cx="7600000" cy="500000"/>
          </a:xfrm>
          <a:prstGeom prst="rect">
            <a:avLst/>
          </a:prstGeom>
          <a:noFill/>
        </p:spPr>
        <p:txBody>
          <a:bodyPr wrap="square" lIns="0" tIns="0" rIns="0" bIns="0" anchor="t">
            <a:spAutoFit/>
          </a:bodyPr>
          <a:lstStyle/>
          <a:p>
            <a:pPr algn="l"/>
            <a:r>
              <a:rPr sz="1600" b="1" i="0">
                <a:solidFill>
                  <a:srgbClr val="1F2430"/>
                </a:solidFill>
                <a:latin typeface="Poppins"/>
                <a:ea typeface="Poppins"/>
                <a:cs typeface="Poppins"/>
              </a:rPr>
              <a:t>Poundo Yam / Edinkaiko Soup</a:t>
            </a:r>
          </a:p>
        </p:txBody>
      </p:sp>
      <p:sp>
        <p:nvSpPr>
          <p:cNvPr id="8" name="TextBox 7"/>
          <p:cNvSpPr txBox="1"/>
          <p:nvPr/>
        </p:nvSpPr>
        <p:spPr>
          <a:xfrm>
            <a:off x="10766454" y="4015000"/>
            <a:ext cx="2800000" cy="500000"/>
          </a:xfrm>
          <a:prstGeom prst="rect">
            <a:avLst/>
          </a:prstGeom>
          <a:noFill/>
        </p:spPr>
        <p:txBody>
          <a:bodyPr wrap="square" lIns="0" tIns="0" rIns="0" bIns="0" anchor="t">
            <a:spAutoFit/>
          </a:bodyPr>
          <a:lstStyle/>
          <a:p>
            <a:pPr algn="l"/>
            <a:r>
              <a:rPr sz="1700" b="1" i="0">
                <a:solidFill>
                  <a:srgbClr val="2E3A6E"/>
                </a:solidFill>
                <a:latin typeface="Courier New"/>
                <a:ea typeface="Courier New"/>
                <a:cs typeface="Courier New"/>
              </a:rPr>
              <a:t>N3,200</a:t>
            </a:r>
          </a:p>
        </p:txBody>
      </p:sp>
      <p:sp>
        <p:nvSpPr>
          <p:cNvPr id="9" name="Rounded Rectangle 8"/>
          <p:cNvSpPr/>
          <p:nvPr/>
        </p:nvSpPr>
        <p:spPr>
          <a:xfrm>
            <a:off x="1266454" y="4745000"/>
            <a:ext cx="12800000" cy="83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66454" y="4965000"/>
            <a:ext cx="900000" cy="500000"/>
          </a:xfrm>
          <a:prstGeom prst="rect">
            <a:avLst/>
          </a:prstGeom>
          <a:noFill/>
        </p:spPr>
        <p:txBody>
          <a:bodyPr wrap="square" lIns="0" tIns="0" rIns="0" bIns="0" anchor="t">
            <a:spAutoFit/>
          </a:bodyPr>
          <a:lstStyle/>
          <a:p>
            <a:pPr algn="l"/>
            <a:r>
              <a:rPr sz="1900" b="1" i="0">
                <a:solidFill>
                  <a:srgbClr val="2E3A6E"/>
                </a:solidFill>
                <a:latin typeface="Courier New"/>
                <a:ea typeface="Courier New"/>
                <a:cs typeface="Courier New"/>
              </a:rPr>
              <a:t>F</a:t>
            </a:r>
          </a:p>
        </p:txBody>
      </p:sp>
      <p:sp>
        <p:nvSpPr>
          <p:cNvPr id="11" name="TextBox 10"/>
          <p:cNvSpPr txBox="1"/>
          <p:nvPr/>
        </p:nvSpPr>
        <p:spPr>
          <a:xfrm>
            <a:off x="2866454" y="4965000"/>
            <a:ext cx="7600000" cy="500000"/>
          </a:xfrm>
          <a:prstGeom prst="rect">
            <a:avLst/>
          </a:prstGeom>
          <a:noFill/>
        </p:spPr>
        <p:txBody>
          <a:bodyPr wrap="square" lIns="0" tIns="0" rIns="0" bIns="0" anchor="t">
            <a:spAutoFit/>
          </a:bodyPr>
          <a:lstStyle/>
          <a:p>
            <a:pPr algn="l"/>
            <a:r>
              <a:rPr sz="1600" b="1" i="0">
                <a:solidFill>
                  <a:srgbClr val="1F2430"/>
                </a:solidFill>
                <a:latin typeface="Poppins"/>
                <a:ea typeface="Poppins"/>
                <a:cs typeface="Poppins"/>
              </a:rPr>
              <a:t>Fried Rice &amp; Chicken</a:t>
            </a:r>
          </a:p>
        </p:txBody>
      </p:sp>
      <p:sp>
        <p:nvSpPr>
          <p:cNvPr id="12" name="TextBox 11"/>
          <p:cNvSpPr txBox="1"/>
          <p:nvPr/>
        </p:nvSpPr>
        <p:spPr>
          <a:xfrm>
            <a:off x="10766454" y="4965000"/>
            <a:ext cx="2800000" cy="500000"/>
          </a:xfrm>
          <a:prstGeom prst="rect">
            <a:avLst/>
          </a:prstGeom>
          <a:noFill/>
        </p:spPr>
        <p:txBody>
          <a:bodyPr wrap="square" lIns="0" tIns="0" rIns="0" bIns="0" anchor="t">
            <a:spAutoFit/>
          </a:bodyPr>
          <a:lstStyle/>
          <a:p>
            <a:pPr algn="l"/>
            <a:r>
              <a:rPr sz="1700" b="1" i="0">
                <a:solidFill>
                  <a:srgbClr val="2E3A6E"/>
                </a:solidFill>
                <a:latin typeface="Courier New"/>
                <a:ea typeface="Courier New"/>
                <a:cs typeface="Courier New"/>
              </a:rPr>
              <a:t>N3,000</a:t>
            </a:r>
          </a:p>
        </p:txBody>
      </p:sp>
      <p:sp>
        <p:nvSpPr>
          <p:cNvPr id="13" name="Rounded Rectangle 12"/>
          <p:cNvSpPr/>
          <p:nvPr/>
        </p:nvSpPr>
        <p:spPr>
          <a:xfrm>
            <a:off x="1266454" y="5695000"/>
            <a:ext cx="12800000" cy="83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66454" y="5915000"/>
            <a:ext cx="900000" cy="500000"/>
          </a:xfrm>
          <a:prstGeom prst="rect">
            <a:avLst/>
          </a:prstGeom>
          <a:noFill/>
        </p:spPr>
        <p:txBody>
          <a:bodyPr wrap="square" lIns="0" tIns="0" rIns="0" bIns="0" anchor="t">
            <a:spAutoFit/>
          </a:bodyPr>
          <a:lstStyle/>
          <a:p>
            <a:pPr algn="l"/>
            <a:r>
              <a:rPr sz="1900" b="1" i="0">
                <a:solidFill>
                  <a:srgbClr val="2E3A6E"/>
                </a:solidFill>
                <a:latin typeface="Courier New"/>
                <a:ea typeface="Courier New"/>
                <a:cs typeface="Courier New"/>
              </a:rPr>
              <a:t>A</a:t>
            </a:r>
          </a:p>
        </p:txBody>
      </p:sp>
      <p:sp>
        <p:nvSpPr>
          <p:cNvPr id="15" name="TextBox 14"/>
          <p:cNvSpPr txBox="1"/>
          <p:nvPr/>
        </p:nvSpPr>
        <p:spPr>
          <a:xfrm>
            <a:off x="2866454" y="5915000"/>
            <a:ext cx="7600000" cy="500000"/>
          </a:xfrm>
          <a:prstGeom prst="rect">
            <a:avLst/>
          </a:prstGeom>
          <a:noFill/>
        </p:spPr>
        <p:txBody>
          <a:bodyPr wrap="square" lIns="0" tIns="0" rIns="0" bIns="0" anchor="t">
            <a:spAutoFit/>
          </a:bodyPr>
          <a:lstStyle/>
          <a:p>
            <a:pPr algn="l"/>
            <a:r>
              <a:rPr sz="1600" b="1" i="0">
                <a:solidFill>
                  <a:srgbClr val="1F2430"/>
                </a:solidFill>
                <a:latin typeface="Poppins"/>
                <a:ea typeface="Poppins"/>
                <a:cs typeface="Poppins"/>
              </a:rPr>
              <a:t>Amala &amp; Ewedu Soup</a:t>
            </a:r>
          </a:p>
        </p:txBody>
      </p:sp>
      <p:sp>
        <p:nvSpPr>
          <p:cNvPr id="16" name="TextBox 15"/>
          <p:cNvSpPr txBox="1"/>
          <p:nvPr/>
        </p:nvSpPr>
        <p:spPr>
          <a:xfrm>
            <a:off x="10766454" y="5915000"/>
            <a:ext cx="2800000" cy="500000"/>
          </a:xfrm>
          <a:prstGeom prst="rect">
            <a:avLst/>
          </a:prstGeom>
          <a:noFill/>
        </p:spPr>
        <p:txBody>
          <a:bodyPr wrap="square" lIns="0" tIns="0" rIns="0" bIns="0" anchor="t">
            <a:spAutoFit/>
          </a:bodyPr>
          <a:lstStyle/>
          <a:p>
            <a:pPr algn="l"/>
            <a:r>
              <a:rPr sz="1700" b="1" i="0">
                <a:solidFill>
                  <a:srgbClr val="2E3A6E"/>
                </a:solidFill>
                <a:latin typeface="Courier New"/>
                <a:ea typeface="Courier New"/>
                <a:cs typeface="Courier New"/>
              </a:rPr>
              <a:t>N2,500</a:t>
            </a:r>
          </a:p>
        </p:txBody>
      </p:sp>
      <p:sp>
        <p:nvSpPr>
          <p:cNvPr id="17" name="Rounded Rectangle 16"/>
          <p:cNvSpPr/>
          <p:nvPr/>
        </p:nvSpPr>
        <p:spPr>
          <a:xfrm>
            <a:off x="1266454" y="6645000"/>
            <a:ext cx="12800000" cy="83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766454" y="6865000"/>
            <a:ext cx="900000" cy="500000"/>
          </a:xfrm>
          <a:prstGeom prst="rect">
            <a:avLst/>
          </a:prstGeom>
          <a:noFill/>
        </p:spPr>
        <p:txBody>
          <a:bodyPr wrap="square" lIns="0" tIns="0" rIns="0" bIns="0" anchor="t">
            <a:spAutoFit/>
          </a:bodyPr>
          <a:lstStyle/>
          <a:p>
            <a:pPr algn="l"/>
            <a:r>
              <a:rPr sz="1900" b="1" i="0">
                <a:solidFill>
                  <a:srgbClr val="2E3A6E"/>
                </a:solidFill>
                <a:latin typeface="Courier New"/>
                <a:ea typeface="Courier New"/>
                <a:cs typeface="Courier New"/>
              </a:rPr>
              <a:t>E</a:t>
            </a:r>
          </a:p>
        </p:txBody>
      </p:sp>
      <p:sp>
        <p:nvSpPr>
          <p:cNvPr id="19" name="TextBox 18"/>
          <p:cNvSpPr txBox="1"/>
          <p:nvPr/>
        </p:nvSpPr>
        <p:spPr>
          <a:xfrm>
            <a:off x="2866454" y="6865000"/>
            <a:ext cx="7600000" cy="500000"/>
          </a:xfrm>
          <a:prstGeom prst="rect">
            <a:avLst/>
          </a:prstGeom>
          <a:noFill/>
        </p:spPr>
        <p:txBody>
          <a:bodyPr wrap="square" lIns="0" tIns="0" rIns="0" bIns="0" anchor="t">
            <a:spAutoFit/>
          </a:bodyPr>
          <a:lstStyle/>
          <a:p>
            <a:pPr algn="l"/>
            <a:r>
              <a:rPr sz="1600" b="1" i="0">
                <a:solidFill>
                  <a:srgbClr val="1F2430"/>
                </a:solidFill>
                <a:latin typeface="Poppins"/>
                <a:ea typeface="Poppins"/>
                <a:cs typeface="Poppins"/>
              </a:rPr>
              <a:t>Eba &amp; Egusi Soup</a:t>
            </a:r>
          </a:p>
        </p:txBody>
      </p:sp>
      <p:sp>
        <p:nvSpPr>
          <p:cNvPr id="20" name="TextBox 19"/>
          <p:cNvSpPr txBox="1"/>
          <p:nvPr/>
        </p:nvSpPr>
        <p:spPr>
          <a:xfrm>
            <a:off x="10766454" y="6865000"/>
            <a:ext cx="2800000" cy="500000"/>
          </a:xfrm>
          <a:prstGeom prst="rect">
            <a:avLst/>
          </a:prstGeom>
          <a:noFill/>
        </p:spPr>
        <p:txBody>
          <a:bodyPr wrap="square" lIns="0" tIns="0" rIns="0" bIns="0" anchor="t">
            <a:spAutoFit/>
          </a:bodyPr>
          <a:lstStyle/>
          <a:p>
            <a:pPr algn="l"/>
            <a:r>
              <a:rPr sz="1700" b="1" i="0">
                <a:solidFill>
                  <a:srgbClr val="2E3A6E"/>
                </a:solidFill>
                <a:latin typeface="Courier New"/>
                <a:ea typeface="Courier New"/>
                <a:cs typeface="Courier New"/>
              </a:rPr>
              <a:t>N2,000</a:t>
            </a:r>
          </a:p>
        </p:txBody>
      </p:sp>
      <p:sp>
        <p:nvSpPr>
          <p:cNvPr id="21" name="Rounded Rectangle 20"/>
          <p:cNvSpPr/>
          <p:nvPr/>
        </p:nvSpPr>
        <p:spPr>
          <a:xfrm>
            <a:off x="1266454" y="7595000"/>
            <a:ext cx="12800000" cy="830000"/>
          </a:xfrm>
          <a:prstGeom prst="roundRect">
            <a:avLst>
              <a:gd name="adj" fmla="val 10000"/>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766454" y="7815000"/>
            <a:ext cx="900000" cy="500000"/>
          </a:xfrm>
          <a:prstGeom prst="rect">
            <a:avLst/>
          </a:prstGeom>
          <a:noFill/>
        </p:spPr>
        <p:txBody>
          <a:bodyPr wrap="square" lIns="0" tIns="0" rIns="0" bIns="0" anchor="t">
            <a:spAutoFit/>
          </a:bodyPr>
          <a:lstStyle/>
          <a:p>
            <a:pPr algn="l"/>
            <a:r>
              <a:rPr sz="1900" b="1" i="0">
                <a:solidFill>
                  <a:srgbClr val="2E3A6E"/>
                </a:solidFill>
                <a:latin typeface="Courier New"/>
                <a:ea typeface="Courier New"/>
                <a:cs typeface="Courier New"/>
              </a:rPr>
              <a:t>W</a:t>
            </a:r>
          </a:p>
        </p:txBody>
      </p:sp>
      <p:sp>
        <p:nvSpPr>
          <p:cNvPr id="23" name="TextBox 22"/>
          <p:cNvSpPr txBox="1"/>
          <p:nvPr/>
        </p:nvSpPr>
        <p:spPr>
          <a:xfrm>
            <a:off x="2866454" y="7815000"/>
            <a:ext cx="7600000" cy="500000"/>
          </a:xfrm>
          <a:prstGeom prst="rect">
            <a:avLst/>
          </a:prstGeom>
          <a:noFill/>
        </p:spPr>
        <p:txBody>
          <a:bodyPr wrap="square" lIns="0" tIns="0" rIns="0" bIns="0" anchor="t">
            <a:spAutoFit/>
          </a:bodyPr>
          <a:lstStyle/>
          <a:p>
            <a:pPr algn="l"/>
            <a:r>
              <a:rPr sz="1600" b="1" i="0">
                <a:solidFill>
                  <a:srgbClr val="1F2430"/>
                </a:solidFill>
                <a:latin typeface="Poppins"/>
                <a:ea typeface="Poppins"/>
                <a:cs typeface="Poppins"/>
              </a:rPr>
              <a:t>White Rice &amp; Stew</a:t>
            </a:r>
          </a:p>
        </p:txBody>
      </p:sp>
      <p:sp>
        <p:nvSpPr>
          <p:cNvPr id="24" name="TextBox 23"/>
          <p:cNvSpPr txBox="1"/>
          <p:nvPr/>
        </p:nvSpPr>
        <p:spPr>
          <a:xfrm>
            <a:off x="10766454" y="7815000"/>
            <a:ext cx="2800000" cy="500000"/>
          </a:xfrm>
          <a:prstGeom prst="rect">
            <a:avLst/>
          </a:prstGeom>
          <a:noFill/>
        </p:spPr>
        <p:txBody>
          <a:bodyPr wrap="square" lIns="0" tIns="0" rIns="0" bIns="0" anchor="t">
            <a:spAutoFit/>
          </a:bodyPr>
          <a:lstStyle/>
          <a:p>
            <a:pPr algn="l"/>
            <a:r>
              <a:rPr sz="1700" b="1" i="0">
                <a:solidFill>
                  <a:srgbClr val="2E3A6E"/>
                </a:solidFill>
                <a:latin typeface="Courier New"/>
                <a:ea typeface="Courier New"/>
                <a:cs typeface="Courier New"/>
              </a:rPr>
              <a:t>N2,500</a:t>
            </a:r>
          </a:p>
        </p:txBody>
      </p:sp>
      <p:sp>
        <p:nvSpPr>
          <p:cNvPr id="25" name="TextBox 24"/>
          <p:cNvSpPr txBox="1"/>
          <p:nvPr/>
        </p:nvSpPr>
        <p:spPr>
          <a:xfrm>
            <a:off x="1290517" y="8753550"/>
            <a:ext cx="15706966" cy="600000"/>
          </a:xfrm>
          <a:prstGeom prst="rect">
            <a:avLst/>
          </a:prstGeom>
          <a:noFill/>
        </p:spPr>
        <p:txBody>
          <a:bodyPr wrap="square" lIns="0" tIns="0" rIns="0" bIns="0" anchor="t">
            <a:spAutoFit/>
          </a:bodyPr>
          <a:lstStyle/>
          <a:p>
            <a:pPr algn="l">
              <a:lnSpc>
                <a:spcPts val="2400"/>
              </a:lnSpc>
            </a:pPr>
            <a:r>
              <a:rPr sz="1500" b="0" i="1" dirty="0">
                <a:solidFill>
                  <a:srgbClr val="5A6072"/>
                </a:solidFill>
                <a:latin typeface="Poppins"/>
                <a:ea typeface="Poppins"/>
                <a:cs typeface="Poppins"/>
              </a:rPr>
              <a:t>You will need: input reading, a decision on the letter, arithmetic for the total, and one last if for the discount.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2E3A6E">
                <a:alpha val="100000"/>
              </a:srgbClr>
            </a:gs>
            <a:gs pos="100000">
              <a:srgbClr val="262091">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0" y="0"/>
            <a:ext cx="18317150" cy="10285320"/>
          </a:xfrm>
          <a:custGeom>
            <a:avLst/>
            <a:gdLst/>
            <a:ahLst/>
            <a:cxnLst/>
            <a:rect l="l" t="t" r="r" b="b"/>
            <a:pathLst>
              <a:path w="18317150" h="12502574">
                <a:moveTo>
                  <a:pt x="0" y="0"/>
                </a:moveTo>
                <a:lnTo>
                  <a:pt x="18317150" y="0"/>
                </a:lnTo>
                <a:lnTo>
                  <a:pt x="18317150" y="12502574"/>
                </a:lnTo>
                <a:lnTo>
                  <a:pt x="0" y="12502574"/>
                </a:lnTo>
                <a:lnTo>
                  <a:pt x="0" y="0"/>
                </a:lnTo>
                <a:close/>
              </a:path>
            </a:pathLst>
          </a:custGeom>
          <a:blipFill>
            <a:blip r:embed="rId2">
              <a:alphaModFix amt="9999"/>
            </a:blip>
            <a:stretch>
              <a:fillRect l="-1192" r="-1192"/>
            </a:stretch>
          </a:blipFill>
        </p:spPr>
        <p:txBody>
          <a:bodyPr/>
          <a:lstStyle/>
          <a:p>
            <a:endParaRPr lang="en-US"/>
          </a:p>
        </p:txBody>
      </p:sp>
      <p:sp>
        <p:nvSpPr>
          <p:cNvPr id="3" name="Freeform 3"/>
          <p:cNvSpPr/>
          <p:nvPr/>
        </p:nvSpPr>
        <p:spPr>
          <a:xfrm>
            <a:off x="14595563" y="1015051"/>
            <a:ext cx="2663737" cy="1152180"/>
          </a:xfrm>
          <a:custGeom>
            <a:avLst/>
            <a:gdLst/>
            <a:ahLst/>
            <a:cxnLst/>
            <a:rect l="l" t="t" r="r" b="b"/>
            <a:pathLst>
              <a:path w="2663737" h="1152180">
                <a:moveTo>
                  <a:pt x="0" y="0"/>
                </a:moveTo>
                <a:lnTo>
                  <a:pt x="2663737" y="0"/>
                </a:lnTo>
                <a:lnTo>
                  <a:pt x="2663737" y="1152180"/>
                </a:lnTo>
                <a:lnTo>
                  <a:pt x="0" y="1152180"/>
                </a:lnTo>
                <a:lnTo>
                  <a:pt x="0" y="0"/>
                </a:lnTo>
                <a:close/>
              </a:path>
            </a:pathLst>
          </a:custGeom>
          <a:blipFill>
            <a:blip r:embed="rId3"/>
            <a:stretch>
              <a:fillRect t="-1900" b="-1900"/>
            </a:stretch>
          </a:blipFill>
        </p:spPr>
        <p:txBody>
          <a:bodyPr/>
          <a:lstStyle/>
          <a:p>
            <a:endParaRPr lang="en-US"/>
          </a:p>
        </p:txBody>
      </p:sp>
      <p:grpSp>
        <p:nvGrpSpPr>
          <p:cNvPr id="4" name="Group 4"/>
          <p:cNvGrpSpPr/>
          <p:nvPr/>
        </p:nvGrpSpPr>
        <p:grpSpPr>
          <a:xfrm>
            <a:off x="0" y="9258300"/>
            <a:ext cx="18288000" cy="1027020"/>
            <a:chOff x="0" y="0"/>
            <a:chExt cx="4816593" cy="270491"/>
          </a:xfrm>
        </p:grpSpPr>
        <p:sp>
          <p:nvSpPr>
            <p:cNvPr id="5" name="Freeform 5"/>
            <p:cNvSpPr/>
            <p:nvPr/>
          </p:nvSpPr>
          <p:spPr>
            <a:xfrm>
              <a:off x="0" y="0"/>
              <a:ext cx="4816592" cy="270491"/>
            </a:xfrm>
            <a:custGeom>
              <a:avLst/>
              <a:gdLst/>
              <a:ahLst/>
              <a:cxnLst/>
              <a:rect l="l" t="t" r="r" b="b"/>
              <a:pathLst>
                <a:path w="4816592" h="270491">
                  <a:moveTo>
                    <a:pt x="0" y="0"/>
                  </a:moveTo>
                  <a:lnTo>
                    <a:pt x="4816592" y="0"/>
                  </a:lnTo>
                  <a:lnTo>
                    <a:pt x="4816592" y="270491"/>
                  </a:lnTo>
                  <a:lnTo>
                    <a:pt x="0" y="270491"/>
                  </a:lnTo>
                  <a:close/>
                </a:path>
              </a:pathLst>
            </a:custGeom>
            <a:solidFill>
              <a:srgbClr val="FFFFFF"/>
            </a:solidFill>
          </p:spPr>
          <p:txBody>
            <a:bodyPr/>
            <a:lstStyle/>
            <a:p>
              <a:endParaRPr lang="en-US"/>
            </a:p>
          </p:txBody>
        </p:sp>
        <p:sp>
          <p:nvSpPr>
            <p:cNvPr id="6" name="TextBox 6"/>
            <p:cNvSpPr txBox="1"/>
            <p:nvPr/>
          </p:nvSpPr>
          <p:spPr>
            <a:xfrm>
              <a:off x="0" y="-66675"/>
              <a:ext cx="4816593" cy="337166"/>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762000" y="9416949"/>
            <a:ext cx="1559829" cy="709722"/>
          </a:xfrm>
          <a:custGeom>
            <a:avLst/>
            <a:gdLst/>
            <a:ahLst/>
            <a:cxnLst/>
            <a:rect l="l" t="t" r="r" b="b"/>
            <a:pathLst>
              <a:path w="1559829" h="709722">
                <a:moveTo>
                  <a:pt x="0" y="0"/>
                </a:moveTo>
                <a:lnTo>
                  <a:pt x="1559829" y="0"/>
                </a:lnTo>
                <a:lnTo>
                  <a:pt x="1559829" y="709722"/>
                </a:lnTo>
                <a:lnTo>
                  <a:pt x="0" y="709722"/>
                </a:lnTo>
                <a:lnTo>
                  <a:pt x="0" y="0"/>
                </a:lnTo>
                <a:close/>
              </a:path>
            </a:pathLst>
          </a:custGeom>
          <a:blipFill>
            <a:blip r:embed="rId4"/>
            <a:stretch>
              <a:fillRect/>
            </a:stretch>
          </a:blipFill>
        </p:spPr>
        <p:txBody>
          <a:bodyPr/>
          <a:lstStyle/>
          <a:p>
            <a:endParaRPr lang="en-US"/>
          </a:p>
        </p:txBody>
      </p:sp>
      <p:sp>
        <p:nvSpPr>
          <p:cNvPr id="8" name="TextBox 8"/>
          <p:cNvSpPr txBox="1"/>
          <p:nvPr/>
        </p:nvSpPr>
        <p:spPr>
          <a:xfrm>
            <a:off x="1842750" y="3574163"/>
            <a:ext cx="14631650" cy="1368400"/>
          </a:xfrm>
          <a:prstGeom prst="rect">
            <a:avLst/>
          </a:prstGeom>
        </p:spPr>
        <p:txBody>
          <a:bodyPr lIns="0" tIns="0" rIns="0" bIns="0" rtlCol="0" anchor="t">
            <a:spAutoFit/>
          </a:bodyPr>
          <a:lstStyle/>
          <a:p>
            <a:pPr algn="ctr">
              <a:lnSpc>
                <a:spcPts val="11200"/>
              </a:lnSpc>
            </a:pPr>
            <a:r>
              <a:rPr lang="en-US" sz="8000" dirty="0">
                <a:solidFill>
                  <a:srgbClr val="FFFFFF"/>
                </a:solidFill>
                <a:latin typeface="Segoe UI 1"/>
                <a:ea typeface="Segoe UI 1"/>
                <a:cs typeface="Segoe UI 1"/>
                <a:sym typeface="Segoe UI 1"/>
              </a:rPr>
              <a:t>Questions?</a:t>
            </a:r>
          </a:p>
        </p:txBody>
      </p:sp>
      <p:sp>
        <p:nvSpPr>
          <p:cNvPr id="9" name="TextBox 9"/>
          <p:cNvSpPr txBox="1"/>
          <p:nvPr/>
        </p:nvSpPr>
        <p:spPr>
          <a:xfrm>
            <a:off x="2894000" y="5217471"/>
            <a:ext cx="12500000" cy="555921"/>
          </a:xfrm>
          <a:prstGeom prst="rect">
            <a:avLst/>
          </a:prstGeom>
        </p:spPr>
        <p:txBody>
          <a:bodyPr wrap="square" lIns="0" tIns="0" rIns="0" bIns="0" rtlCol="0" anchor="t">
            <a:spAutoFit/>
          </a:bodyPr>
          <a:lstStyle/>
          <a:p>
            <a:pPr algn="ctr">
              <a:lnSpc>
                <a:spcPts val="4480"/>
              </a:lnSpc>
            </a:pPr>
            <a:r>
              <a:rPr lang="en-US" sz="3200" dirty="0">
                <a:solidFill>
                  <a:srgbClr val="FFFFFF"/>
                </a:solidFill>
                <a:latin typeface="Poppins"/>
                <a:ea typeface="Poppins"/>
                <a:cs typeface="Poppins"/>
                <a:sym typeface="Poppins"/>
              </a:rPr>
              <a:t>Homework: The menu project, pushed to week-6.</a:t>
            </a:r>
          </a:p>
        </p:txBody>
      </p:sp>
      <p:sp>
        <p:nvSpPr>
          <p:cNvPr id="10" name="TextBox 10"/>
          <p:cNvSpPr txBox="1"/>
          <p:nvPr/>
        </p:nvSpPr>
        <p:spPr>
          <a:xfrm>
            <a:off x="2715171" y="9613897"/>
            <a:ext cx="1905248" cy="325705"/>
          </a:xfrm>
          <a:prstGeom prst="rect">
            <a:avLst/>
          </a:prstGeom>
        </p:spPr>
        <p:txBody>
          <a:bodyPr lIns="0" tIns="0" rIns="0" bIns="0" rtlCol="0" anchor="t">
            <a:spAutoFit/>
          </a:bodyPr>
          <a:lstStyle/>
          <a:p>
            <a:pPr algn="ctr">
              <a:lnSpc>
                <a:spcPts val="2520"/>
              </a:lnSpc>
            </a:pPr>
            <a:r>
              <a:rPr lang="en-US" sz="1800">
                <a:solidFill>
                  <a:srgbClr val="2E3A6E"/>
                </a:solidFill>
                <a:latin typeface="Poppins"/>
                <a:ea typeface="Poppins"/>
                <a:cs typeface="Poppins"/>
                <a:sym typeface="Poppins"/>
              </a:rPr>
              <a:t>www.pau.edu.ng</a:t>
            </a:r>
          </a:p>
        </p:txBody>
      </p:sp>
      <p:grpSp>
        <p:nvGrpSpPr>
          <p:cNvPr id="11" name="Group 11"/>
          <p:cNvGrpSpPr/>
          <p:nvPr/>
        </p:nvGrpSpPr>
        <p:grpSpPr>
          <a:xfrm>
            <a:off x="11497609" y="9604017"/>
            <a:ext cx="1845990" cy="335585"/>
            <a:chOff x="0" y="0"/>
            <a:chExt cx="2461320" cy="447447"/>
          </a:xfrm>
        </p:grpSpPr>
        <p:sp>
          <p:nvSpPr>
            <p:cNvPr id="12" name="TextBox 12"/>
            <p:cNvSpPr txBox="1"/>
            <p:nvPr/>
          </p:nvSpPr>
          <p:spPr>
            <a:xfrm>
              <a:off x="551690" y="-12464"/>
              <a:ext cx="1909630" cy="415224"/>
            </a:xfrm>
            <a:prstGeom prst="rect">
              <a:avLst/>
            </a:prstGeom>
          </p:spPr>
          <p:txBody>
            <a:bodyPr lIns="0" tIns="0" rIns="0" bIns="0" rtlCol="0" anchor="t">
              <a:spAutoFit/>
            </a:bodyPr>
            <a:lstStyle/>
            <a:p>
              <a:pPr algn="ctr">
                <a:lnSpc>
                  <a:spcPts val="2520"/>
                </a:lnSpc>
              </a:pPr>
              <a:r>
                <a:rPr lang="en-US" sz="1800">
                  <a:solidFill>
                    <a:srgbClr val="2E3A6E"/>
                  </a:solidFill>
                  <a:latin typeface="Poppins"/>
                  <a:ea typeface="Poppins"/>
                  <a:cs typeface="Poppins"/>
                  <a:sym typeface="Poppins"/>
                </a:rPr>
                <a:t>pau_Nigeria</a:t>
              </a:r>
            </a:p>
          </p:txBody>
        </p:sp>
        <p:sp>
          <p:nvSpPr>
            <p:cNvPr id="13" name="Freeform 13" descr="Symbol"/>
            <p:cNvSpPr/>
            <p:nvPr/>
          </p:nvSpPr>
          <p:spPr>
            <a:xfrm>
              <a:off x="0" y="0"/>
              <a:ext cx="447447" cy="447447"/>
            </a:xfrm>
            <a:custGeom>
              <a:avLst/>
              <a:gdLst/>
              <a:ahLst/>
              <a:cxnLst/>
              <a:rect l="l" t="t" r="r" b="b"/>
              <a:pathLst>
                <a:path w="447447" h="447447">
                  <a:moveTo>
                    <a:pt x="0" y="0"/>
                  </a:moveTo>
                  <a:lnTo>
                    <a:pt x="447447" y="0"/>
                  </a:lnTo>
                  <a:lnTo>
                    <a:pt x="447447" y="447447"/>
                  </a:lnTo>
                  <a:lnTo>
                    <a:pt x="0" y="44744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grpSp>
        <p:nvGrpSpPr>
          <p:cNvPr id="14" name="Group 14"/>
          <p:cNvGrpSpPr/>
          <p:nvPr/>
        </p:nvGrpSpPr>
        <p:grpSpPr>
          <a:xfrm>
            <a:off x="13681595" y="9637532"/>
            <a:ext cx="3577705" cy="268555"/>
            <a:chOff x="0" y="0"/>
            <a:chExt cx="4770273" cy="358074"/>
          </a:xfrm>
        </p:grpSpPr>
        <p:sp>
          <p:nvSpPr>
            <p:cNvPr id="15" name="TextBox 15"/>
            <p:cNvSpPr txBox="1"/>
            <p:nvPr/>
          </p:nvSpPr>
          <p:spPr>
            <a:xfrm>
              <a:off x="1313823" y="-57150"/>
              <a:ext cx="3456450" cy="415224"/>
            </a:xfrm>
            <a:prstGeom prst="rect">
              <a:avLst/>
            </a:prstGeom>
          </p:spPr>
          <p:txBody>
            <a:bodyPr lIns="0" tIns="0" rIns="0" bIns="0" rtlCol="0" anchor="t">
              <a:spAutoFit/>
            </a:bodyPr>
            <a:lstStyle/>
            <a:p>
              <a:pPr algn="ctr">
                <a:lnSpc>
                  <a:spcPts val="2520"/>
                </a:lnSpc>
              </a:pPr>
              <a:r>
                <a:rPr lang="en-US" sz="1800">
                  <a:solidFill>
                    <a:srgbClr val="2E3A6E"/>
                  </a:solidFill>
                  <a:latin typeface="Poppins"/>
                  <a:ea typeface="Poppins"/>
                  <a:cs typeface="Poppins"/>
                  <a:sym typeface="Poppins"/>
                </a:rPr>
                <a:t>Pan-Atlantic University</a:t>
              </a:r>
            </a:p>
          </p:txBody>
        </p:sp>
        <p:sp>
          <p:nvSpPr>
            <p:cNvPr id="16" name="Freeform 16" descr="Symbol"/>
            <p:cNvSpPr/>
            <p:nvPr/>
          </p:nvSpPr>
          <p:spPr>
            <a:xfrm>
              <a:off x="0" y="10659"/>
              <a:ext cx="398926" cy="336756"/>
            </a:xfrm>
            <a:custGeom>
              <a:avLst/>
              <a:gdLst/>
              <a:ahLst/>
              <a:cxnLst/>
              <a:rect l="l" t="t" r="r" b="b"/>
              <a:pathLst>
                <a:path w="398926" h="336756">
                  <a:moveTo>
                    <a:pt x="0" y="0"/>
                  </a:moveTo>
                  <a:lnTo>
                    <a:pt x="398926" y="0"/>
                  </a:lnTo>
                  <a:lnTo>
                    <a:pt x="398926" y="336756"/>
                  </a:lnTo>
                  <a:lnTo>
                    <a:pt x="0" y="33675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7" name="Freeform 17" descr="X's logo"/>
            <p:cNvSpPr/>
            <p:nvPr/>
          </p:nvSpPr>
          <p:spPr>
            <a:xfrm>
              <a:off x="502626" y="43807"/>
              <a:ext cx="299310" cy="270460"/>
            </a:xfrm>
            <a:custGeom>
              <a:avLst/>
              <a:gdLst/>
              <a:ahLst/>
              <a:cxnLst/>
              <a:rect l="l" t="t" r="r" b="b"/>
              <a:pathLst>
                <a:path w="299310" h="270460">
                  <a:moveTo>
                    <a:pt x="0" y="0"/>
                  </a:moveTo>
                  <a:lnTo>
                    <a:pt x="299309" y="0"/>
                  </a:lnTo>
                  <a:lnTo>
                    <a:pt x="299309" y="270460"/>
                  </a:lnTo>
                  <a:lnTo>
                    <a:pt x="0" y="27046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8" name="Freeform 18" descr="Symbol"/>
            <p:cNvSpPr/>
            <p:nvPr/>
          </p:nvSpPr>
          <p:spPr>
            <a:xfrm>
              <a:off x="905635" y="26793"/>
              <a:ext cx="304488" cy="304488"/>
            </a:xfrm>
            <a:custGeom>
              <a:avLst/>
              <a:gdLst/>
              <a:ahLst/>
              <a:cxnLst/>
              <a:rect l="l" t="t" r="r" b="b"/>
              <a:pathLst>
                <a:path w="304488" h="304488">
                  <a:moveTo>
                    <a:pt x="0" y="0"/>
                  </a:moveTo>
                  <a:lnTo>
                    <a:pt x="304488" y="0"/>
                  </a:lnTo>
                  <a:lnTo>
                    <a:pt x="304488" y="304488"/>
                  </a:lnTo>
                  <a:lnTo>
                    <a:pt x="0" y="304488"/>
                  </a:lnTo>
                  <a:lnTo>
                    <a:pt x="0" y="0"/>
                  </a:lnTo>
                  <a:close/>
                </a:path>
              </a:pathLst>
            </a:custGeom>
            <a:blipFill>
              <a:blip r:embed="rId8"/>
              <a:stretch>
                <a:fillRect/>
              </a:stretch>
            </a:blipFill>
          </p:spPr>
          <p:txBody>
            <a:bodyPr/>
            <a:lstStyle/>
            <a:p>
              <a:endParaRPr lang="en-US"/>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AU Report Presentation Template" id="{15DDEA43-7CFE-4AB7-BFD5-AAE880B5C4B8}" vid="{0F212720-FA41-45FA-838D-80B4ADDF4C55}"/>
    </a:ext>
  </a:extLst>
</a:theme>
</file>

<file path=docProps/app.xml><?xml version="1.0" encoding="utf-8"?>
<Properties xmlns="http://schemas.openxmlformats.org/officeDocument/2006/extended-properties" xmlns:vt="http://schemas.openxmlformats.org/officeDocument/2006/docPropsVTypes">
  <Template/>
  <TotalTime>472</TotalTime>
  <Words>1576</Words>
  <Application>Microsoft Office PowerPoint</Application>
  <PresentationFormat>Custom</PresentationFormat>
  <Paragraphs>299</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 Presentation Template 1</dc:title>
  <cp:lastModifiedBy>Dr. Desmond Moru</cp:lastModifiedBy>
  <cp:revision>8</cp:revision>
  <dcterms:created xsi:type="dcterms:W3CDTF">2006-08-16T00:00:00Z</dcterms:created>
  <dcterms:modified xsi:type="dcterms:W3CDTF">2026-10-16T11:48:29Z</dcterms:modified>
  <dc:identifier>DAGkIFAjLi8</dc:identifier>
</cp:coreProperties>
</file>