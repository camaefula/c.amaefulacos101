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1" r:id="rId12"/>
    <p:sldId id="289" r:id="rId13"/>
    <p:sldId id="290" r:id="rId14"/>
    <p:sldId id="291" r:id="rId15"/>
    <p:sldId id="292" r:id="rId16"/>
    <p:sldId id="293" r:id="rId17"/>
    <p:sldId id="280" r:id="rId18"/>
    <p:sldId id="294" r:id="rId19"/>
    <p:sldId id="295" r:id="rId20"/>
    <p:sldId id="296" r:id="rId21"/>
    <p:sldId id="279" r:id="rId22"/>
    <p:sldId id="297" r:id="rId23"/>
    <p:sldId id="298" r:id="rId24"/>
    <p:sldId id="276" r:id="rId25"/>
  </p:sldIdLst>
  <p:sldSz cx="18288000" cy="10287000"/>
  <p:notesSz cx="6858000" cy="9144000"/>
  <p:embeddedFontLs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Segoe UI 1" panose="020B0802040204020203" charset="0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58" autoAdjust="0"/>
    <p:restoredTop sz="94578" autoAdjust="0"/>
  </p:normalViewPr>
  <p:slideViewPr>
    <p:cSldViewPr>
      <p:cViewPr varScale="1">
        <p:scale>
          <a:sx n="72" d="100"/>
          <a:sy n="72" d="100"/>
        </p:scale>
        <p:origin x="832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8EBF0A3-4EDD-20C1-CF1D-38F6C02CD4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30000" y="2552700"/>
            <a:ext cx="5181600" cy="2743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E20664-0446-C262-0671-AD8EB3EF08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52600" y="2324100"/>
            <a:ext cx="4267200" cy="3124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BAA89482-D72B-60A1-7BDD-AF40FC073DD5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-23110"/>
            <a:ext cx="6324600" cy="5867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1E72CF9-754A-C6B3-A866-438B82D44A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582400" y="3390900"/>
            <a:ext cx="6705600" cy="689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B264F41B-AF28-D235-56EF-F619956A74E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39000" y="952500"/>
            <a:ext cx="5486400" cy="2438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E14EE8E-AA62-7C99-F2CB-63F01A2B14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76400" y="7353300"/>
            <a:ext cx="3962400" cy="20240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FA4D1E8-8E2E-5E37-0BDA-08ACD70005A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39000" y="3924300"/>
            <a:ext cx="3276600" cy="2133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349299E-E65A-3043-8A3B-2B91894D1B9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9262631"/>
            <a:ext cx="18288000" cy="1042416"/>
          </a:xfrm>
          <a:prstGeom prst="rect">
            <a:avLst/>
          </a:prstGeom>
        </p:spPr>
      </p:pic>
      <p:sp>
        <p:nvSpPr>
          <p:cNvPr id="10" name="Freeform 4">
            <a:extLst>
              <a:ext uri="{FF2B5EF4-FFF2-40B4-BE49-F238E27FC236}">
                <a16:creationId xmlns:a16="http://schemas.microsoft.com/office/drawing/2014/main" id="{7F2FD8BD-A474-9D4C-D34A-251862634AD6}"/>
              </a:ext>
            </a:extLst>
          </p:cNvPr>
          <p:cNvSpPr/>
          <p:nvPr userDrawn="1"/>
        </p:nvSpPr>
        <p:spPr>
          <a:xfrm>
            <a:off x="6096000" y="2024700"/>
            <a:ext cx="5970665" cy="7233600"/>
          </a:xfrm>
          <a:custGeom>
            <a:avLst/>
            <a:gdLst/>
            <a:ahLst/>
            <a:cxnLst/>
            <a:rect l="l" t="t" r="r" b="b"/>
            <a:pathLst>
              <a:path w="5970665" h="7233600">
                <a:moveTo>
                  <a:pt x="0" y="0"/>
                </a:moveTo>
                <a:lnTo>
                  <a:pt x="5970665" y="0"/>
                </a:lnTo>
                <a:lnTo>
                  <a:pt x="5970665" y="7233600"/>
                </a:lnTo>
                <a:lnTo>
                  <a:pt x="0" y="72336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000"/>
            </a:blip>
            <a:stretch>
              <a:fillRect r="-16626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3A6E">
                <a:alpha val="100000"/>
              </a:srgbClr>
            </a:gs>
            <a:gs pos="100000">
              <a:srgbClr val="26209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317150" cy="10285320"/>
          </a:xfrm>
          <a:custGeom>
            <a:avLst/>
            <a:gdLst/>
            <a:ahLst/>
            <a:cxnLst/>
            <a:rect l="l" t="t" r="r" b="b"/>
            <a:pathLst>
              <a:path w="18317150" h="12502574">
                <a:moveTo>
                  <a:pt x="0" y="0"/>
                </a:moveTo>
                <a:lnTo>
                  <a:pt x="18317150" y="0"/>
                </a:lnTo>
                <a:lnTo>
                  <a:pt x="18317150" y="12502574"/>
                </a:lnTo>
                <a:lnTo>
                  <a:pt x="0" y="12502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l="-1192" r="-11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595563" y="1015051"/>
            <a:ext cx="2663737" cy="1152180"/>
          </a:xfrm>
          <a:custGeom>
            <a:avLst/>
            <a:gdLst/>
            <a:ahLst/>
            <a:cxnLst/>
            <a:rect l="l" t="t" r="r" b="b"/>
            <a:pathLst>
              <a:path w="2663737" h="1152180">
                <a:moveTo>
                  <a:pt x="0" y="0"/>
                </a:moveTo>
                <a:lnTo>
                  <a:pt x="2663737" y="0"/>
                </a:lnTo>
                <a:lnTo>
                  <a:pt x="2663737" y="1152180"/>
                </a:lnTo>
                <a:lnTo>
                  <a:pt x="0" y="1152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00" b="-19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75026" y="3595981"/>
            <a:ext cx="14631650" cy="130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dirty="0">
                <a:solidFill>
                  <a:srgbClr val="FFFFFF"/>
                </a:solidFill>
                <a:latin typeface="Segoe UI 1"/>
                <a:ea typeface="Segoe UI 1"/>
                <a:cs typeface="Segoe UI 1"/>
                <a:sym typeface="Segoe UI 1"/>
              </a:rPr>
              <a:t>Vectors, Tuples and Slices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68586" y="7633544"/>
            <a:ext cx="3024014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2026/2027 Session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04143" y="8114214"/>
            <a:ext cx="4152900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Pan-Atlantic University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43400" y="5282924"/>
            <a:ext cx="9338195" cy="547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CSC 101 Practical  ·  Week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290517" y="933450"/>
            <a:ext cx="9000000" cy="8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2E3A6E"/>
                </a:solidFill>
                <a:latin typeface="Segoe UI 1"/>
                <a:ea typeface="Segoe UI 1"/>
                <a:cs typeface="Segoe UI 1"/>
                <a:sym typeface="Segoe UI 1"/>
              </a:rPr>
              <a:t>Today's Practical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0517" y="2500000"/>
            <a:ext cx="15706966" cy="142000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50517" y="2730000"/>
            <a:ext cx="22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0517" y="3070000"/>
            <a:ext cx="14506966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1F2430"/>
                </a:solidFill>
                <a:latin typeface="Segoe UI 1"/>
                <a:ea typeface="Segoe UI 1"/>
                <a:cs typeface="Segoe UI 1"/>
              </a:rPr>
              <a:t>Vectors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Arrays that grow. Create them, reach inside three ways, update and combine them. Practices 1 to 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90517" y="4220000"/>
            <a:ext cx="15706966" cy="142000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50517" y="4450000"/>
            <a:ext cx="22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Part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0517" y="4790000"/>
            <a:ext cx="14506966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1F2430"/>
                </a:solidFill>
                <a:latin typeface="Segoe UI 1"/>
                <a:ea typeface="Segoe UI 1"/>
                <a:cs typeface="Segoe UI 1"/>
              </a:rPr>
              <a:t>Tuples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Mixed types in one bundle: access, mutate, pass and unpack. Practices 7 to 10.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0517" y="5940000"/>
            <a:ext cx="15706966" cy="142000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50517" y="6170000"/>
            <a:ext cx="22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Part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0517" y="6510000"/>
            <a:ext cx="14506966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1F2430"/>
                </a:solidFill>
                <a:latin typeface="Segoe UI 1"/>
                <a:ea typeface="Segoe UI 1"/>
                <a:cs typeface="Segoe UI 1"/>
              </a:rPr>
              <a:t>Slices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A window into someone else's data. Practices 11 and 12.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90517" y="7660000"/>
            <a:ext cx="15706966" cy="142000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50517" y="7890000"/>
            <a:ext cx="22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0517" y="8230000"/>
            <a:ext cx="14506966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0" i="0">
                <a:solidFill>
                  <a:srgbClr val="1F2430"/>
                </a:solidFill>
                <a:latin typeface="Segoe UI 1"/>
                <a:ea typeface="Segoe UI 1"/>
                <a:cs typeface="Segoe UI 1"/>
              </a:rPr>
              <a:t>Two class projects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A civil-service level checker and a hiring problem from EY Nigeria.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36592" cy="10287000"/>
            <a:chOff x="0" y="0"/>
            <a:chExt cx="161622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6222" cy="2709333"/>
            </a:xfrm>
            <a:custGeom>
              <a:avLst/>
              <a:gdLst/>
              <a:ahLst/>
              <a:cxnLst/>
              <a:rect l="l" t="t" r="r" b="b"/>
              <a:pathLst>
                <a:path w="1616222" h="2709333">
                  <a:moveTo>
                    <a:pt x="0" y="0"/>
                  </a:moveTo>
                  <a:lnTo>
                    <a:pt x="1616222" y="0"/>
                  </a:lnTo>
                  <a:lnTo>
                    <a:pt x="161622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D39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1622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678"/>
            <a:ext cx="6252169" cy="9881321"/>
          </a:xfrm>
          <a:custGeom>
            <a:avLst/>
            <a:gdLst/>
            <a:ahLst/>
            <a:cxnLst/>
            <a:rect l="l" t="t" r="r" b="b"/>
            <a:pathLst>
              <a:path w="10595569" h="9510999">
                <a:moveTo>
                  <a:pt x="0" y="0"/>
                </a:moveTo>
                <a:lnTo>
                  <a:pt x="10595569" y="0"/>
                </a:lnTo>
                <a:lnTo>
                  <a:pt x="10595569" y="9510998"/>
                </a:lnTo>
                <a:lnTo>
                  <a:pt x="0" y="9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</a:blip>
            <a:stretch>
              <a:fillRect r="-595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136592" y="17678"/>
            <a:ext cx="13664850" cy="10269322"/>
          </a:xfrm>
          <a:custGeom>
            <a:avLst/>
            <a:gdLst/>
            <a:ahLst/>
            <a:cxnLst/>
            <a:rect l="l" t="t" r="r" b="b"/>
            <a:pathLst>
              <a:path w="13664850" h="10269322">
                <a:moveTo>
                  <a:pt x="0" y="0"/>
                </a:moveTo>
                <a:lnTo>
                  <a:pt x="13664850" y="0"/>
                </a:lnTo>
                <a:lnTo>
                  <a:pt x="13664850" y="10269322"/>
                </a:lnTo>
                <a:lnTo>
                  <a:pt x="0" y="10269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82" r="-168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75424" y="2179760"/>
            <a:ext cx="5099084" cy="194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4800">
                <a:solidFill>
                  <a:srgbClr val="FFFFFF"/>
                </a:solidFill>
                <a:latin typeface="Segoe UI 1"/>
                <a:ea typeface="Segoe UI 1"/>
                <a:cs typeface="Segoe UI 1"/>
                <a:sym typeface="Segoe UI 1"/>
              </a:rPr>
              <a:t>Vectors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5424" y="5415241"/>
            <a:ext cx="4931258" cy="12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array that grows: created, read, updated and combined at runtime.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40DB6C-CE29-860F-C4B2-00D8D3F3A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63075"/>
            <a:ext cx="19801442" cy="1038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5424" y="1580000"/>
            <a:ext cx="4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7CEE4"/>
                </a:solidFill>
                <a:latin typeface="Poppins"/>
                <a:ea typeface="Poppins"/>
                <a:cs typeface="Poppins"/>
              </a:rPr>
              <a:t>PART 1 OF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What is a Vector?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620000"/>
            <a:ext cx="14200000" cy="3652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 dirty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An array that grows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 vector stores values like an array, but its size can increase dynamically at runtime. It comes from the standard library and holds values of one data type.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endParaRPr lang="en-US" sz="1900" b="1" i="0" dirty="0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 dirty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Length vs capacity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Length is how many elements are in the vector right now. Capacity is how much space has been allocated for it on the heap.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endParaRPr lang="en-US" sz="1900" b="1" i="0" dirty="0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 dirty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Two ways to make one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1" i="0" dirty="0">
                <a:solidFill>
                  <a:srgbClr val="1F243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Vec::new() </a:t>
            </a:r>
            <a:r>
              <a:rPr sz="1600" b="0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starts empty; the </a:t>
            </a:r>
            <a:r>
              <a:rPr sz="1600" b="1" i="0" dirty="0" err="1">
                <a:solidFill>
                  <a:srgbClr val="1F2430"/>
                </a:solidFill>
                <a:latin typeface="Courier New" panose="02070309020205020404" pitchFamily="49" charset="0"/>
                <a:ea typeface="Poppins"/>
                <a:cs typeface="Courier New" panose="02070309020205020404" pitchFamily="49" charset="0"/>
              </a:rPr>
              <a:t>vec</a:t>
            </a:r>
            <a:r>
              <a:rPr sz="1600" b="1" i="0" dirty="0">
                <a:solidFill>
                  <a:srgbClr val="1F2430"/>
                </a:solidFill>
                <a:latin typeface="Courier New" panose="02070309020205020404" pitchFamily="49" charset="0"/>
                <a:ea typeface="Poppins"/>
                <a:cs typeface="Courier New" panose="02070309020205020404" pitchFamily="49" charset="0"/>
              </a:rPr>
              <a:t>!</a:t>
            </a:r>
            <a:r>
              <a:rPr lang="en-US" sz="1600" b="0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 m</a:t>
            </a:r>
            <a:r>
              <a:rPr sz="1600" b="0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acro starts loaded. Practice 1 shows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Practice 1: Creating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286000"/>
            <a:ext cx="15706966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Both creation styles side by side: the method and the macro.</a:t>
            </a:r>
          </a:p>
        </p:txBody>
      </p:sp>
      <p:pic>
        <p:nvPicPr>
          <p:cNvPr id="5" name="Picture 4" descr="w8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046000"/>
            <a:ext cx="11118518" cy="6003999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6" name="Oval 5"/>
          <p:cNvSpPr/>
          <p:nvPr/>
        </p:nvSpPr>
        <p:spPr>
          <a:xfrm>
            <a:off x="13200517" y="37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31997" y="37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Empty, then filled later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v: Vec&lt;i64&gt; = Vec::new();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Length 0 for now.</a:t>
            </a:r>
          </a:p>
        </p:txBody>
      </p:sp>
      <p:sp>
        <p:nvSpPr>
          <p:cNvPr id="8" name="Oval 7"/>
          <p:cNvSpPr/>
          <p:nvPr/>
        </p:nvSpPr>
        <p:spPr>
          <a:xfrm>
            <a:off x="13200517" y="527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1997" y="525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Or loaded on arrival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v = vec!["Grace", "Effiong", ...];</a:t>
            </a:r>
          </a:p>
        </p:txBody>
      </p:sp>
      <p:sp>
        <p:nvSpPr>
          <p:cNvPr id="10" name="Oval 9"/>
          <p:cNvSpPr/>
          <p:nvPr/>
        </p:nvSpPr>
        <p:spPr>
          <a:xfrm>
            <a:off x="13200517" y="68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1997" y="68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len() still counts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v.len()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Practice 2: The Subscript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286000"/>
            <a:ext cx="15706966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Three ways to reach inside a vector: subscript, get() and iteration. First, the subscript.</a:t>
            </a:r>
          </a:p>
        </p:txBody>
      </p:sp>
      <p:pic>
        <p:nvPicPr>
          <p:cNvPr id="5" name="Picture 4" descr="w8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310563"/>
            <a:ext cx="11430000" cy="5474873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6" name="Oval 5"/>
          <p:cNvSpPr/>
          <p:nvPr/>
        </p:nvSpPr>
        <p:spPr>
          <a:xfrm>
            <a:off x="13200517" y="3722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31997" y="3702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Indexing, like arrays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ch: char = v[index];</a:t>
            </a:r>
          </a:p>
        </p:txBody>
      </p:sp>
      <p:sp>
        <p:nvSpPr>
          <p:cNvPr id="8" name="Oval 7"/>
          <p:cNvSpPr/>
          <p:nvPr/>
        </p:nvSpPr>
        <p:spPr>
          <a:xfrm>
            <a:off x="13200517" y="5272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1997" y="5252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But guarded first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The code checks the index is non-negative and smaller than the size before using it.</a:t>
            </a:r>
          </a:p>
        </p:txBody>
      </p:sp>
      <p:sp>
        <p:nvSpPr>
          <p:cNvPr id="10" name="Oval 9"/>
          <p:cNvSpPr/>
          <p:nvPr/>
        </p:nvSpPr>
        <p:spPr>
          <a:xfrm>
            <a:off x="13200517" y="6822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1997" y="6802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Why the guard matters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An index past the end does not return nothing. It crashes the program.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Practice 3: The get()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286000"/>
            <a:ext cx="15706966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The safer second way: get() never panics, it answers with an Option.</a:t>
            </a:r>
          </a:p>
        </p:txBody>
      </p:sp>
      <p:pic>
        <p:nvPicPr>
          <p:cNvPr id="5" name="Picture 4" descr="w8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046000"/>
            <a:ext cx="11371212" cy="6003999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6" name="Oval 5"/>
          <p:cNvSpPr/>
          <p:nvPr/>
        </p:nvSpPr>
        <p:spPr>
          <a:xfrm>
            <a:off x="13200517" y="37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31997" y="37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Ask politely instead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ch = v.get(index);</a:t>
            </a:r>
          </a:p>
        </p:txBody>
      </p:sp>
      <p:sp>
        <p:nvSpPr>
          <p:cNvPr id="8" name="Oval 7"/>
          <p:cNvSpPr/>
          <p:nvPr/>
        </p:nvSpPr>
        <p:spPr>
          <a:xfrm>
            <a:off x="13200517" y="527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1997" y="525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The answer comes wrapped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Some('U') if the index exists, None if it does not. No crash either way.</a:t>
            </a:r>
          </a:p>
        </p:txBody>
      </p:sp>
      <p:sp>
        <p:nvSpPr>
          <p:cNvPr id="10" name="Oval 9"/>
          <p:cNvSpPr/>
          <p:nvPr/>
        </p:nvSpPr>
        <p:spPr>
          <a:xfrm>
            <a:off x="13200517" y="68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1997" y="68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Print it with {:?}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Option values are debug-printed. The full Option story comes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Practice 4: Iterating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286000"/>
            <a:ext cx="15706966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The third way in: a for loop, exactly like arrays last week.</a:t>
            </a:r>
          </a:p>
        </p:txBody>
      </p:sp>
      <p:pic>
        <p:nvPicPr>
          <p:cNvPr id="5" name="Picture 4" descr="w8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163433"/>
            <a:ext cx="11430000" cy="5769133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6" name="Oval 5"/>
          <p:cNvSpPr/>
          <p:nvPr/>
        </p:nvSpPr>
        <p:spPr>
          <a:xfrm>
            <a:off x="13200517" y="3722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31997" y="3702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Two vectors, side by side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name and age</a:t>
            </a:r>
          </a:p>
        </p:txBody>
      </p:sp>
      <p:sp>
        <p:nvSpPr>
          <p:cNvPr id="8" name="Oval 7"/>
          <p:cNvSpPr/>
          <p:nvPr/>
        </p:nvSpPr>
        <p:spPr>
          <a:xfrm>
            <a:off x="13200517" y="5272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1997" y="5252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One loop reads both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for i in 0..age.len()</a:t>
            </a:r>
          </a:p>
        </p:txBody>
      </p:sp>
      <p:sp>
        <p:nvSpPr>
          <p:cNvPr id="10" name="Oval 9"/>
          <p:cNvSpPr/>
          <p:nvPr/>
        </p:nvSpPr>
        <p:spPr>
          <a:xfrm>
            <a:off x="13200517" y="6822999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1997" y="6802999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Index pairs them up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println!("{} is {} years old", name[i], age[i]);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0517" y="9132566"/>
            <a:ext cx="1143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Tip:  </a:t>
            </a:r>
            <a:r>
              <a:rPr sz="15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Count both vectors before running. If one is shorter than the loop, the program panics with index out of bounds.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Practice 5: Updating a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286000"/>
            <a:ext cx="15706966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 program that builds its data while it runs: your preferred cities, pushed in one by one.</a:t>
            </a:r>
          </a:p>
        </p:txBody>
      </p:sp>
      <p:pic>
        <p:nvPicPr>
          <p:cNvPr id="5" name="Picture 4" descr="w8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046000"/>
            <a:ext cx="9499029" cy="6003999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6" name="Oval 5"/>
          <p:cNvSpPr/>
          <p:nvPr/>
        </p:nvSpPr>
        <p:spPr>
          <a:xfrm>
            <a:off x="13200517" y="37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31997" y="37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Start empty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mut city: Vec&lt;String&gt; = Vec::new();</a:t>
            </a:r>
          </a:p>
        </p:txBody>
      </p:sp>
      <p:sp>
        <p:nvSpPr>
          <p:cNvPr id="8" name="Oval 7"/>
          <p:cNvSpPr/>
          <p:nvPr/>
        </p:nvSpPr>
        <p:spPr>
          <a:xfrm>
            <a:off x="13200517" y="527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1997" y="525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Grow it from input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city.push(new_city);</a:t>
            </a:r>
          </a:p>
        </p:txBody>
      </p:sp>
      <p:sp>
        <p:nvSpPr>
          <p:cNvPr id="10" name="Oval 9"/>
          <p:cNvSpPr/>
          <p:nvPr/>
        </p:nvSpPr>
        <p:spPr>
          <a:xfrm>
            <a:off x="13200517" y="68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1997" y="68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This is the superpower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An array could never do this. The vector grows one city at a time, at runtime.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Practice 6: Adding Two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286000"/>
            <a:ext cx="15706966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Element by element addition, the way Practice 4 paired names with ages.</a:t>
            </a:r>
          </a:p>
        </p:txBody>
      </p:sp>
      <p:pic>
        <p:nvPicPr>
          <p:cNvPr id="5" name="Picture 4" descr="w8_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046000"/>
            <a:ext cx="10011454" cy="6003999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6" name="Oval 5"/>
          <p:cNvSpPr/>
          <p:nvPr/>
        </p:nvSpPr>
        <p:spPr>
          <a:xfrm>
            <a:off x="13200517" y="37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31997" y="37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Two vectors of numbers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v = vec![1,2,3,4,5,6,7,8];</a:t>
            </a:r>
          </a:p>
        </p:txBody>
      </p:sp>
      <p:sp>
        <p:nvSpPr>
          <p:cNvPr id="8" name="Oval 7"/>
          <p:cNvSpPr/>
          <p:nvPr/>
        </p:nvSpPr>
        <p:spPr>
          <a:xfrm>
            <a:off x="13200517" y="527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1997" y="525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One loop, pairwise sums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sum = v[index] + x[index];</a:t>
            </a:r>
          </a:p>
        </p:txBody>
      </p:sp>
      <p:sp>
        <p:nvSpPr>
          <p:cNvPr id="10" name="Oval 9"/>
          <p:cNvSpPr/>
          <p:nvPr/>
        </p:nvSpPr>
        <p:spPr>
          <a:xfrm>
            <a:off x="13200517" y="68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1997" y="68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The index does the pairing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Element 0 with element 0, element 1 with element 1, and so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36592" cy="10287000"/>
            <a:chOff x="0" y="0"/>
            <a:chExt cx="161622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6222" cy="2709333"/>
            </a:xfrm>
            <a:custGeom>
              <a:avLst/>
              <a:gdLst/>
              <a:ahLst/>
              <a:cxnLst/>
              <a:rect l="l" t="t" r="r" b="b"/>
              <a:pathLst>
                <a:path w="1616222" h="2709333">
                  <a:moveTo>
                    <a:pt x="0" y="0"/>
                  </a:moveTo>
                  <a:lnTo>
                    <a:pt x="1616222" y="0"/>
                  </a:lnTo>
                  <a:lnTo>
                    <a:pt x="161622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D39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1622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063" y="-96622"/>
            <a:ext cx="6136592" cy="9995621"/>
          </a:xfrm>
          <a:custGeom>
            <a:avLst/>
            <a:gdLst/>
            <a:ahLst/>
            <a:cxnLst/>
            <a:rect l="l" t="t" r="r" b="b"/>
            <a:pathLst>
              <a:path w="10595569" h="9510999">
                <a:moveTo>
                  <a:pt x="0" y="0"/>
                </a:moveTo>
                <a:lnTo>
                  <a:pt x="10595569" y="0"/>
                </a:lnTo>
                <a:lnTo>
                  <a:pt x="10595569" y="9510998"/>
                </a:lnTo>
                <a:lnTo>
                  <a:pt x="0" y="9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</a:blip>
            <a:stretch>
              <a:fillRect r="-595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136592" y="17678"/>
            <a:ext cx="13664850" cy="10269322"/>
          </a:xfrm>
          <a:custGeom>
            <a:avLst/>
            <a:gdLst/>
            <a:ahLst/>
            <a:cxnLst/>
            <a:rect l="l" t="t" r="r" b="b"/>
            <a:pathLst>
              <a:path w="13664850" h="10269322">
                <a:moveTo>
                  <a:pt x="0" y="0"/>
                </a:moveTo>
                <a:lnTo>
                  <a:pt x="13664850" y="0"/>
                </a:lnTo>
                <a:lnTo>
                  <a:pt x="13664850" y="10269322"/>
                </a:lnTo>
                <a:lnTo>
                  <a:pt x="0" y="10269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82" r="-168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75424" y="2179760"/>
            <a:ext cx="5099084" cy="194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4800">
                <a:solidFill>
                  <a:srgbClr val="FFFFFF"/>
                </a:solidFill>
                <a:latin typeface="Segoe UI 1"/>
                <a:ea typeface="Segoe UI 1"/>
                <a:cs typeface="Segoe UI 1"/>
                <a:sym typeface="Segoe UI 1"/>
              </a:rPr>
              <a:t>Tuples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5424" y="5415241"/>
            <a:ext cx="4931258" cy="12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One bundle, many types. Fixed length, unpacked however you need.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40DB6C-CE29-860F-C4B2-00D8D3F3A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63075"/>
            <a:ext cx="19801442" cy="1038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5424" y="1580000"/>
            <a:ext cx="4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7CEE4"/>
                </a:solidFill>
                <a:latin typeface="Poppins"/>
                <a:ea typeface="Poppins"/>
                <a:cs typeface="Poppins"/>
              </a:rPr>
              <a:t>PART 2 OF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What is a Tuple?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620000"/>
            <a:ext cx="14200000" cy="3344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 dirty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A compound type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 scalar type holds one kind of value. A tuple holds several values at once, and they can be of different types.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endParaRPr lang="en-US" sz="1900" b="1" i="0" dirty="0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 dirty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Fixed length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Once declared, a tuple cannot grow or shrink. Its index starts at 0.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endParaRPr lang="en-US" sz="1900" b="1" i="0" dirty="0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 dirty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Printing needs {:?}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 dirty="0" err="1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println</a:t>
            </a:r>
            <a:r>
              <a:rPr sz="1600" b="0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! with plain {} cannot display a tuple. Compound types are printed with the {:?} syntax.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Practice 7: Making and Reading Tuples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286000"/>
            <a:ext cx="15706966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Three different types in one bundle, read back with dot-number access.</a:t>
            </a:r>
          </a:p>
        </p:txBody>
      </p:sp>
      <p:pic>
        <p:nvPicPr>
          <p:cNvPr id="5" name="Picture 4" descr="w8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046000"/>
            <a:ext cx="10069208" cy="6003999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6" name="Oval 5"/>
          <p:cNvSpPr/>
          <p:nvPr/>
        </p:nvSpPr>
        <p:spPr>
          <a:xfrm>
            <a:off x="13200517" y="37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31997" y="37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With types spelled out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t: (&amp;str, f32, u8) = ("Rust", 3.14, 100);</a:t>
            </a:r>
          </a:p>
        </p:txBody>
      </p:sp>
      <p:sp>
        <p:nvSpPr>
          <p:cNvPr id="8" name="Oval 7"/>
          <p:cNvSpPr/>
          <p:nvPr/>
        </p:nvSpPr>
        <p:spPr>
          <a:xfrm>
            <a:off x="13200517" y="527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1997" y="525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Or inferred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t = ("Rust", "fun", 100);</a:t>
            </a:r>
          </a:p>
        </p:txBody>
      </p:sp>
      <p:sp>
        <p:nvSpPr>
          <p:cNvPr id="10" name="Oval 9"/>
          <p:cNvSpPr/>
          <p:nvPr/>
        </p:nvSpPr>
        <p:spPr>
          <a:xfrm>
            <a:off x="13200517" y="68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1997" y="68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Reach in with a dot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t.0, t.1, t.2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Practice 8: Mutable Tuples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286000"/>
            <a:ext cx="15706966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Tuples are immutable by default, exactly like variables. mut unlocks them.</a:t>
            </a:r>
          </a:p>
        </p:txBody>
      </p:sp>
      <p:pic>
        <p:nvPicPr>
          <p:cNvPr id="5" name="Picture 4" descr="w8_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352425"/>
            <a:ext cx="11430000" cy="5391150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6" name="Oval 5"/>
          <p:cNvSpPr/>
          <p:nvPr/>
        </p:nvSpPr>
        <p:spPr>
          <a:xfrm>
            <a:off x="13200517" y="37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31997" y="37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mut works here too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mut mountain_heights = ...;</a:t>
            </a:r>
          </a:p>
        </p:txBody>
      </p:sp>
      <p:sp>
        <p:nvSpPr>
          <p:cNvPr id="8" name="Oval 7"/>
          <p:cNvSpPr/>
          <p:nvPr/>
        </p:nvSpPr>
        <p:spPr>
          <a:xfrm>
            <a:off x="13200517" y="527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1997" y="525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Change elements in place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mountain_heights.2 = "Lhotse";</a:t>
            </a:r>
          </a:p>
        </p:txBody>
      </p:sp>
      <p:sp>
        <p:nvSpPr>
          <p:cNvPr id="10" name="Oval 9"/>
          <p:cNvSpPr/>
          <p:nvPr/>
        </p:nvSpPr>
        <p:spPr>
          <a:xfrm>
            <a:off x="13200517" y="68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1997" y="68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Length stays fixed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You can change what is inside, never how many things are inside.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Practice 9: Passing a Tuple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286000"/>
            <a:ext cx="15706966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 tuple travels into a function as a single argument.</a:t>
            </a:r>
          </a:p>
        </p:txBody>
      </p:sp>
      <p:pic>
        <p:nvPicPr>
          <p:cNvPr id="5" name="Picture 4" descr="w8_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318448"/>
            <a:ext cx="11430000" cy="5459104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6" name="Oval 5"/>
          <p:cNvSpPr/>
          <p:nvPr/>
        </p:nvSpPr>
        <p:spPr>
          <a:xfrm>
            <a:off x="13200517" y="37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31997" y="3703000"/>
            <a:ext cx="4456003" cy="900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One parameter, whole bundle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 dirty="0" err="1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fn</a:t>
            </a:r>
            <a:r>
              <a:rPr sz="1900" b="1" i="0" dirty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 print(x: (i32, bool, f64)) {</a:t>
            </a:r>
          </a:p>
        </p:txBody>
      </p:sp>
      <p:sp>
        <p:nvSpPr>
          <p:cNvPr id="8" name="Oval 7"/>
          <p:cNvSpPr/>
          <p:nvPr/>
        </p:nvSpPr>
        <p:spPr>
          <a:xfrm>
            <a:off x="13200517" y="527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1997" y="525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Passed by value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print(b);</a:t>
            </a:r>
          </a:p>
        </p:txBody>
      </p:sp>
      <p:sp>
        <p:nvSpPr>
          <p:cNvPr id="10" name="Oval 9"/>
          <p:cNvSpPr/>
          <p:nvPr/>
        </p:nvSpPr>
        <p:spPr>
          <a:xfrm>
            <a:off x="13200517" y="68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1997" y="68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The type must match exactly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Same types, same order, same length.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Practice 10: Destructuring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286000"/>
            <a:ext cx="15706966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Instead of x.0 and x.1 everywhere, unpack the tuple into named variables.</a:t>
            </a:r>
          </a:p>
        </p:txBody>
      </p:sp>
      <p:pic>
        <p:nvPicPr>
          <p:cNvPr id="5" name="Picture 4" descr="w8_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520212"/>
            <a:ext cx="11430000" cy="5055576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6" name="Oval 5"/>
          <p:cNvSpPr/>
          <p:nvPr/>
        </p:nvSpPr>
        <p:spPr>
          <a:xfrm>
            <a:off x="13200517" y="37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31997" y="3703000"/>
            <a:ext cx="4227403" cy="61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Break the bundle open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 dirty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(age, </a:t>
            </a:r>
            <a:r>
              <a:rPr sz="1900" b="1" i="0" dirty="0" err="1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is_male</a:t>
            </a:r>
            <a:r>
              <a:rPr sz="1900" b="1" i="0" dirty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900" b="1" i="0" dirty="0" err="1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cgpa</a:t>
            </a:r>
            <a:r>
              <a:rPr sz="1900" b="1" i="0" dirty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) = x;</a:t>
            </a:r>
          </a:p>
        </p:txBody>
      </p:sp>
      <p:sp>
        <p:nvSpPr>
          <p:cNvPr id="8" name="Oval 7"/>
          <p:cNvSpPr/>
          <p:nvPr/>
        </p:nvSpPr>
        <p:spPr>
          <a:xfrm>
            <a:off x="13200517" y="527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1997" y="525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Three names, one line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Each variable takes the matching position from the tuple.</a:t>
            </a:r>
          </a:p>
        </p:txBody>
      </p:sp>
      <p:sp>
        <p:nvSpPr>
          <p:cNvPr id="10" name="Oval 9"/>
          <p:cNvSpPr/>
          <p:nvPr/>
        </p:nvSpPr>
        <p:spPr>
          <a:xfrm>
            <a:off x="13200517" y="68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1997" y="68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Then use them plainly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println!("Age is {}, ...", age, ...);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36592" cy="10287000"/>
            <a:chOff x="0" y="0"/>
            <a:chExt cx="161622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6222" cy="2709333"/>
            </a:xfrm>
            <a:custGeom>
              <a:avLst/>
              <a:gdLst/>
              <a:ahLst/>
              <a:cxnLst/>
              <a:rect l="l" t="t" r="r" b="b"/>
              <a:pathLst>
                <a:path w="1616222" h="2709333">
                  <a:moveTo>
                    <a:pt x="0" y="0"/>
                  </a:moveTo>
                  <a:lnTo>
                    <a:pt x="1616222" y="0"/>
                  </a:lnTo>
                  <a:lnTo>
                    <a:pt x="161622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D39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1622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0468"/>
            <a:ext cx="6136592" cy="9510999"/>
          </a:xfrm>
          <a:custGeom>
            <a:avLst/>
            <a:gdLst/>
            <a:ahLst/>
            <a:cxnLst/>
            <a:rect l="l" t="t" r="r" b="b"/>
            <a:pathLst>
              <a:path w="10595569" h="9510999">
                <a:moveTo>
                  <a:pt x="0" y="0"/>
                </a:moveTo>
                <a:lnTo>
                  <a:pt x="10595569" y="0"/>
                </a:lnTo>
                <a:lnTo>
                  <a:pt x="10595569" y="9510998"/>
                </a:lnTo>
                <a:lnTo>
                  <a:pt x="0" y="9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</a:blip>
            <a:stretch>
              <a:fillRect r="-595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136592" y="17678"/>
            <a:ext cx="13664850" cy="10269322"/>
          </a:xfrm>
          <a:custGeom>
            <a:avLst/>
            <a:gdLst/>
            <a:ahLst/>
            <a:cxnLst/>
            <a:rect l="l" t="t" r="r" b="b"/>
            <a:pathLst>
              <a:path w="13664850" h="10269322">
                <a:moveTo>
                  <a:pt x="0" y="0"/>
                </a:moveTo>
                <a:lnTo>
                  <a:pt x="13664850" y="0"/>
                </a:lnTo>
                <a:lnTo>
                  <a:pt x="13664850" y="10269322"/>
                </a:lnTo>
                <a:lnTo>
                  <a:pt x="0" y="10269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82" r="-168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75424" y="2179760"/>
            <a:ext cx="5099084" cy="194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4800">
                <a:solidFill>
                  <a:srgbClr val="FFFFFF"/>
                </a:solidFill>
                <a:latin typeface="Segoe UI 1"/>
                <a:ea typeface="Segoe UI 1"/>
                <a:cs typeface="Segoe UI 1"/>
                <a:sym typeface="Segoe UI 1"/>
              </a:rPr>
              <a:t>Slices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5424" y="5415241"/>
            <a:ext cx="4931258" cy="12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Borrowed windows into arrays and vectors. Small topic, big idea.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40DB6C-CE29-860F-C4B2-00D8D3F3A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63075"/>
            <a:ext cx="19801442" cy="1038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5424" y="1580000"/>
            <a:ext cx="4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7CEE4"/>
                </a:solidFill>
                <a:latin typeface="Poppins"/>
                <a:ea typeface="Poppins"/>
                <a:cs typeface="Poppins"/>
              </a:rPr>
              <a:t>PART 3 OF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What is a Slice?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620000"/>
            <a:ext cx="14200000" cy="3344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 dirty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A pointer to a block of memory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 slice does not own data. It points into a portion of data stored in contiguous memory: part of an array, a vector or a string.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endParaRPr lang="en-US" sz="1900" b="1" i="0" dirty="0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 dirty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Sized at runtime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The size of a slice is determined when the program runs, using index numbers to mark the portion.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endParaRPr lang="en-US" sz="1900" b="1" i="0" dirty="0">
              <a:solidFill>
                <a:srgbClr val="2E3A6E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900" b="1" i="0" dirty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Borrowing, by name</a:t>
            </a:r>
          </a:p>
          <a:p>
            <a:pPr algn="l">
              <a:lnSpc>
                <a:spcPts val="2400"/>
              </a:lnSpc>
              <a:spcAft>
                <a:spcPts val="1000"/>
              </a:spcAft>
            </a:pPr>
            <a:r>
              <a:rPr sz="1600" b="0" i="0" dirty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Slices are passed to functions by reference. Rust calls that borrowing, and Week 10 is named after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Practice 11: Slicing an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286000"/>
            <a:ext cx="15706966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Five numbers in an array, viewed through four different windows.</a:t>
            </a:r>
          </a:p>
        </p:txBody>
      </p:sp>
      <p:pic>
        <p:nvPicPr>
          <p:cNvPr id="5" name="Picture 4" descr="w8_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046000"/>
            <a:ext cx="10066586" cy="6003999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6" name="Oval 5"/>
          <p:cNvSpPr/>
          <p:nvPr/>
        </p:nvSpPr>
        <p:spPr>
          <a:xfrm>
            <a:off x="13200517" y="37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31997" y="37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The &amp; makes the window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slice1 = &amp;numbers[1..3];</a:t>
            </a:r>
          </a:p>
        </p:txBody>
      </p:sp>
      <p:sp>
        <p:nvSpPr>
          <p:cNvPr id="8" name="Oval 7"/>
          <p:cNvSpPr/>
          <p:nvPr/>
        </p:nvSpPr>
        <p:spPr>
          <a:xfrm>
            <a:off x="13200517" y="527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1997" y="525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Start included, end excluded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[1..3] is elements 1 and 2. The range rule from Week 4, again.</a:t>
            </a:r>
          </a:p>
        </p:txBody>
      </p:sp>
      <p:sp>
        <p:nvSpPr>
          <p:cNvPr id="10" name="Oval 9"/>
          <p:cNvSpPr/>
          <p:nvPr/>
        </p:nvSpPr>
        <p:spPr>
          <a:xfrm>
            <a:off x="13200517" y="68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1997" y="68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Both ends are optional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[..3], [1..], [..]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Practice 12: Mutable Slices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286000"/>
            <a:ext cx="15706966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 slice can change the data it looks at, if you borrow with &amp;mut.</a:t>
            </a:r>
          </a:p>
        </p:txBody>
      </p:sp>
      <p:pic>
        <p:nvPicPr>
          <p:cNvPr id="5" name="Picture 4" descr="w8_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517" y="3046000"/>
            <a:ext cx="10458054" cy="6003999"/>
          </a:xfrm>
          <a:prstGeom prst="rect">
            <a:avLst/>
          </a:prstGeom>
          <a:ln w="15875">
            <a:solidFill>
              <a:srgbClr val="DDE1EA"/>
            </a:solidFill>
          </a:ln>
          <a:effectLst/>
        </p:spPr>
      </p:pic>
      <p:sp>
        <p:nvSpPr>
          <p:cNvPr id="6" name="Oval 5"/>
          <p:cNvSpPr/>
          <p:nvPr/>
        </p:nvSpPr>
        <p:spPr>
          <a:xfrm>
            <a:off x="13200517" y="37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31997" y="37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Borrow it mutably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let sliced_colors = &amp;mut colors[1..3];</a:t>
            </a:r>
          </a:p>
        </p:txBody>
      </p:sp>
      <p:sp>
        <p:nvSpPr>
          <p:cNvPr id="8" name="Oval 7"/>
          <p:cNvSpPr/>
          <p:nvPr/>
        </p:nvSpPr>
        <p:spPr>
          <a:xfrm>
            <a:off x="13200517" y="527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31997" y="525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Write through the window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9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sliced_colors[1] = "purple";</a:t>
            </a:r>
          </a:p>
        </p:txBody>
      </p:sp>
      <p:sp>
        <p:nvSpPr>
          <p:cNvPr id="10" name="Oval 9"/>
          <p:cNvSpPr/>
          <p:nvPr/>
        </p:nvSpPr>
        <p:spPr>
          <a:xfrm>
            <a:off x="13200517" y="6823000"/>
            <a:ext cx="411480" cy="411480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1997" y="6803000"/>
            <a:ext cx="3856003" cy="15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800" b="1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The original changes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 i="0">
                <a:solidFill>
                  <a:srgbClr val="5A6072"/>
                </a:solidFill>
                <a:latin typeface="Poppins"/>
                <a:ea typeface="Poppins"/>
                <a:cs typeface="Poppins"/>
              </a:rPr>
              <a:t>The slice is not a copy. Editing it edits the vector underneath.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36592" cy="10287000"/>
            <a:chOff x="0" y="0"/>
            <a:chExt cx="161622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6222" cy="2709333"/>
            </a:xfrm>
            <a:custGeom>
              <a:avLst/>
              <a:gdLst/>
              <a:ahLst/>
              <a:cxnLst/>
              <a:rect l="l" t="t" r="r" b="b"/>
              <a:pathLst>
                <a:path w="1616222" h="2709333">
                  <a:moveTo>
                    <a:pt x="0" y="0"/>
                  </a:moveTo>
                  <a:lnTo>
                    <a:pt x="1616222" y="0"/>
                  </a:lnTo>
                  <a:lnTo>
                    <a:pt x="161622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D39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1622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458977" y="20468"/>
            <a:ext cx="10595569" cy="9510999"/>
          </a:xfrm>
          <a:custGeom>
            <a:avLst/>
            <a:gdLst/>
            <a:ahLst/>
            <a:cxnLst/>
            <a:rect l="l" t="t" r="r" b="b"/>
            <a:pathLst>
              <a:path w="10595569" h="9510999">
                <a:moveTo>
                  <a:pt x="0" y="0"/>
                </a:moveTo>
                <a:lnTo>
                  <a:pt x="10595569" y="0"/>
                </a:lnTo>
                <a:lnTo>
                  <a:pt x="10595569" y="9510998"/>
                </a:lnTo>
                <a:lnTo>
                  <a:pt x="0" y="951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</a:blip>
            <a:stretch>
              <a:fillRect r="-595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136592" y="17678"/>
            <a:ext cx="13664850" cy="10269322"/>
          </a:xfrm>
          <a:custGeom>
            <a:avLst/>
            <a:gdLst/>
            <a:ahLst/>
            <a:cxnLst/>
            <a:rect l="l" t="t" r="r" b="b"/>
            <a:pathLst>
              <a:path w="13664850" h="10269322">
                <a:moveTo>
                  <a:pt x="0" y="0"/>
                </a:moveTo>
                <a:lnTo>
                  <a:pt x="13664850" y="0"/>
                </a:lnTo>
                <a:lnTo>
                  <a:pt x="13664850" y="10269322"/>
                </a:lnTo>
                <a:lnTo>
                  <a:pt x="0" y="10269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82" r="-168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75424" y="2179760"/>
            <a:ext cx="5099084" cy="194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4800">
                <a:solidFill>
                  <a:srgbClr val="FFFFFF"/>
                </a:solidFill>
                <a:latin typeface="Segoe UI 1"/>
                <a:ea typeface="Segoe UI 1"/>
                <a:cs typeface="Segoe UI 1"/>
                <a:sym typeface="Segoe UI 1"/>
              </a:rPr>
              <a:t>Projects I and II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5424" y="5415241"/>
            <a:ext cx="4931258" cy="12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federal service level checker, and EY Nigeria's hiring problem.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40DB6C-CE29-860F-C4B2-00D8D3F3A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63075"/>
            <a:ext cx="19801442" cy="1038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5424" y="1580000"/>
            <a:ext cx="4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7CEE4"/>
                </a:solidFill>
                <a:latin typeface="Poppins"/>
                <a:ea typeface="Poppins"/>
                <a:cs typeface="Poppins"/>
              </a:rPr>
              <a:t>CLASS PROJECTS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Project I: The APS Level 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400000"/>
            <a:ext cx="15706966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You have joined a team building a Public Service APS level checker for the Federal Government of Nigeria. Using vectors, validate a staff level from this table. Example: an Associate Lawyer with 5 to 8 years of experience holds position APS 5-8.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0517" y="3600000"/>
            <a:ext cx="15706966" cy="720000"/>
          </a:xfrm>
          <a:prstGeom prst="roundRect">
            <a:avLst>
              <a:gd name="adj" fmla="val 0"/>
            </a:avLst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90517" y="3790000"/>
            <a:ext cx="2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Public Servant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0517" y="3790000"/>
            <a:ext cx="27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Office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0517" y="3790000"/>
            <a:ext cx="29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Academic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90517" y="3790000"/>
            <a:ext cx="3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Lawyer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517" y="3790000"/>
            <a:ext cx="2946966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Teacher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0517" y="4320000"/>
            <a:ext cx="15706966" cy="72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90517" y="4510000"/>
            <a:ext cx="2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APS 1-2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0517" y="4510000"/>
            <a:ext cx="27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Intern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0517" y="4510000"/>
            <a:ext cx="29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90517" y="4510000"/>
            <a:ext cx="3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Paralegal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517" y="4510000"/>
            <a:ext cx="2946966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Placement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0517" y="5040000"/>
            <a:ext cx="15706966" cy="720000"/>
          </a:xfrm>
          <a:prstGeom prst="roundRect">
            <a:avLst>
              <a:gd name="adj" fmla="val 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90517" y="5230000"/>
            <a:ext cx="2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APS 3-5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0517" y="5230000"/>
            <a:ext cx="27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Administrator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0517" y="5230000"/>
            <a:ext cx="29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Research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90517" y="5230000"/>
            <a:ext cx="3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Junior Associate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517" y="5230000"/>
            <a:ext cx="2946966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Classroom Teacher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90517" y="5760000"/>
            <a:ext cx="15706966" cy="72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90517" y="5950000"/>
            <a:ext cx="2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APS 5-8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0517" y="5950000"/>
            <a:ext cx="27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Senior Administrator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0517" y="5950000"/>
            <a:ext cx="29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PhD Candidate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90517" y="5950000"/>
            <a:ext cx="3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Associate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90517" y="5950000"/>
            <a:ext cx="2946966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Senior Teacher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90517" y="6480000"/>
            <a:ext cx="15706966" cy="720000"/>
          </a:xfrm>
          <a:prstGeom prst="roundRect">
            <a:avLst>
              <a:gd name="adj" fmla="val 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90517" y="6670000"/>
            <a:ext cx="2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EL1 8-10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0517" y="6670000"/>
            <a:ext cx="27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Office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0517" y="6670000"/>
            <a:ext cx="29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Post-Doc Researcher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90517" y="6670000"/>
            <a:ext cx="3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Senior Associate 1-2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90517" y="6670000"/>
            <a:ext cx="2946966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Leading Teacher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90517" y="7200000"/>
            <a:ext cx="15706966" cy="72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90517" y="7390000"/>
            <a:ext cx="2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EL2 10-13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0517" y="7390000"/>
            <a:ext cx="27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Director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0517" y="7390000"/>
            <a:ext cx="29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Senior Lecturer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90517" y="7390000"/>
            <a:ext cx="3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Senior Associate 3-4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990517" y="7390000"/>
            <a:ext cx="2946966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Deputy Principal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90517" y="7920000"/>
            <a:ext cx="15706966" cy="720000"/>
          </a:xfrm>
          <a:prstGeom prst="roundRect">
            <a:avLst>
              <a:gd name="adj" fmla="val 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590517" y="8110000"/>
            <a:ext cx="2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E3A6E"/>
                </a:solidFill>
                <a:latin typeface="Courier New"/>
                <a:ea typeface="Courier New"/>
                <a:cs typeface="Courier New"/>
              </a:rPr>
              <a:t>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90517" y="8110000"/>
            <a:ext cx="27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CEO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0517" y="8110000"/>
            <a:ext cx="29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Dean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90517" y="8110000"/>
            <a:ext cx="31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Partner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990517" y="8110000"/>
            <a:ext cx="2946966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Principal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6554" y="1179444"/>
            <a:ext cx="424292" cy="424292"/>
          </a:xfrm>
          <a:prstGeom prst="ellipse">
            <a:avLst/>
          </a:prstGeom>
          <a:solidFill>
            <a:srgbClr val="2E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0517" y="933450"/>
            <a:ext cx="1639748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>
                <a:solidFill>
                  <a:srgbClr val="2E3A6E"/>
                </a:solidFill>
                <a:latin typeface="Segoe UI 1"/>
                <a:ea typeface="Segoe UI 1"/>
                <a:cs typeface="Segoe UI 1"/>
              </a:rPr>
              <a:t>Project II: The EY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0517" y="2620000"/>
            <a:ext cx="15706966" cy="2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17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Ernst &amp; Young (EY) Global Limited is a multinational professional services network headquartered in London, with branch offices all around the world. EY Nigeria recently launched a project and is scouting for developers with the highest years of experience. The CEO of EY Nigeria has contacted you: develop a Rust program that finds the person with the highest years of programming experience during the job interview, using any Rust compound data 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0517" y="5700000"/>
            <a:ext cx="12800000" cy="23000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90517" y="6100000"/>
            <a:ext cx="11800000" cy="1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  <a:spcAft>
                <a:spcPts val="1000"/>
              </a:spcAft>
            </a:pPr>
            <a:r>
              <a:rPr sz="1600" b="1" i="0">
                <a:solidFill>
                  <a:srgbClr val="2E3A6E"/>
                </a:solidFill>
                <a:latin typeface="Poppins"/>
                <a:ea typeface="Poppins"/>
                <a:cs typeface="Poppins"/>
              </a:rPr>
              <a:t>Hints</a:t>
            </a:r>
          </a:p>
          <a:p>
            <a:pPr algn="l">
              <a:lnSpc>
                <a:spcPts val="26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A vector of tuples fits this well: (name, years). Walk it with a loop, keep the highest seen so far.</a:t>
            </a:r>
          </a:p>
          <a:p>
            <a:pPr algn="l">
              <a:lnSpc>
                <a:spcPts val="2600"/>
              </a:lnSpc>
              <a:spcAft>
                <a:spcPts val="1000"/>
              </a:spcAft>
            </a:pPr>
            <a:r>
              <a:rPr sz="1600" b="0" i="0">
                <a:solidFill>
                  <a:srgbClr val="1F2430"/>
                </a:solidFill>
                <a:latin typeface="Poppins"/>
                <a:ea typeface="Poppins"/>
                <a:cs typeface="Poppins"/>
              </a:rPr>
              <a:t>Compound data type means vector, tuple or slice. Your pick, your defence.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3A6E">
                <a:alpha val="100000"/>
              </a:srgbClr>
            </a:gs>
            <a:gs pos="100000">
              <a:srgbClr val="26209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317150" cy="10285320"/>
          </a:xfrm>
          <a:custGeom>
            <a:avLst/>
            <a:gdLst/>
            <a:ahLst/>
            <a:cxnLst/>
            <a:rect l="l" t="t" r="r" b="b"/>
            <a:pathLst>
              <a:path w="18317150" h="12502574">
                <a:moveTo>
                  <a:pt x="0" y="0"/>
                </a:moveTo>
                <a:lnTo>
                  <a:pt x="18317150" y="0"/>
                </a:lnTo>
                <a:lnTo>
                  <a:pt x="18317150" y="12502574"/>
                </a:lnTo>
                <a:lnTo>
                  <a:pt x="0" y="12502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-1192" r="-11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595563" y="1015051"/>
            <a:ext cx="2663737" cy="1152180"/>
          </a:xfrm>
          <a:custGeom>
            <a:avLst/>
            <a:gdLst/>
            <a:ahLst/>
            <a:cxnLst/>
            <a:rect l="l" t="t" r="r" b="b"/>
            <a:pathLst>
              <a:path w="2663737" h="1152180">
                <a:moveTo>
                  <a:pt x="0" y="0"/>
                </a:moveTo>
                <a:lnTo>
                  <a:pt x="2663737" y="0"/>
                </a:lnTo>
                <a:lnTo>
                  <a:pt x="2663737" y="1152180"/>
                </a:lnTo>
                <a:lnTo>
                  <a:pt x="0" y="1152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00" b="-190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0" y="9258300"/>
            <a:ext cx="18288000" cy="1027020"/>
            <a:chOff x="0" y="0"/>
            <a:chExt cx="4816593" cy="2704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491"/>
            </a:xfrm>
            <a:custGeom>
              <a:avLst/>
              <a:gdLst/>
              <a:ahLst/>
              <a:cxnLst/>
              <a:rect l="l" t="t" r="r" b="b"/>
              <a:pathLst>
                <a:path w="4816592" h="270491">
                  <a:moveTo>
                    <a:pt x="0" y="0"/>
                  </a:moveTo>
                  <a:lnTo>
                    <a:pt x="4816592" y="0"/>
                  </a:lnTo>
                  <a:lnTo>
                    <a:pt x="4816592" y="270491"/>
                  </a:lnTo>
                  <a:lnTo>
                    <a:pt x="0" y="270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337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62000" y="9416949"/>
            <a:ext cx="1559829" cy="709722"/>
          </a:xfrm>
          <a:custGeom>
            <a:avLst/>
            <a:gdLst/>
            <a:ahLst/>
            <a:cxnLst/>
            <a:rect l="l" t="t" r="r" b="b"/>
            <a:pathLst>
              <a:path w="1559829" h="709722">
                <a:moveTo>
                  <a:pt x="0" y="0"/>
                </a:moveTo>
                <a:lnTo>
                  <a:pt x="1559829" y="0"/>
                </a:lnTo>
                <a:lnTo>
                  <a:pt x="1559829" y="709722"/>
                </a:lnTo>
                <a:lnTo>
                  <a:pt x="0" y="709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842750" y="3574163"/>
            <a:ext cx="14631650" cy="136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dirty="0">
                <a:solidFill>
                  <a:srgbClr val="FFFFFF"/>
                </a:solidFill>
                <a:latin typeface="Segoe UI 1"/>
                <a:ea typeface="Segoe UI 1"/>
                <a:cs typeface="Segoe UI 1"/>
                <a:sym typeface="Segoe UI 1"/>
              </a:rPr>
              <a:t>Questions?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94000" y="5217471"/>
            <a:ext cx="12500000" cy="555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Homework: Both projects, pushed to week-8.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15171" y="9613897"/>
            <a:ext cx="1905248" cy="325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E3A6E"/>
                </a:solidFill>
                <a:latin typeface="Poppins"/>
                <a:ea typeface="Poppins"/>
                <a:cs typeface="Poppins"/>
                <a:sym typeface="Poppins"/>
              </a:rPr>
              <a:t>www.pau.edu.ng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97609" y="9604017"/>
            <a:ext cx="1845990" cy="335585"/>
            <a:chOff x="0" y="0"/>
            <a:chExt cx="2461320" cy="447447"/>
          </a:xfrm>
        </p:grpSpPr>
        <p:sp>
          <p:nvSpPr>
            <p:cNvPr id="12" name="TextBox 12"/>
            <p:cNvSpPr txBox="1"/>
            <p:nvPr/>
          </p:nvSpPr>
          <p:spPr>
            <a:xfrm>
              <a:off x="551690" y="-12464"/>
              <a:ext cx="1909630" cy="415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</a:p>
          </p:txBody>
        </p:sp>
        <p:sp>
          <p:nvSpPr>
            <p:cNvPr id="13" name="Freeform 13" descr="Symbol"/>
            <p:cNvSpPr/>
            <p:nvPr/>
          </p:nvSpPr>
          <p:spPr>
            <a:xfrm>
              <a:off x="0" y="0"/>
              <a:ext cx="447447" cy="447447"/>
            </a:xfrm>
            <a:custGeom>
              <a:avLst/>
              <a:gdLst/>
              <a:ahLst/>
              <a:cxnLst/>
              <a:rect l="l" t="t" r="r" b="b"/>
              <a:pathLst>
                <a:path w="447447" h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681595" y="9637532"/>
            <a:ext cx="3577705" cy="268555"/>
            <a:chOff x="0" y="0"/>
            <a:chExt cx="4770273" cy="358074"/>
          </a:xfrm>
        </p:grpSpPr>
        <p:sp>
          <p:nvSpPr>
            <p:cNvPr id="15" name="TextBox 15"/>
            <p:cNvSpPr txBox="1"/>
            <p:nvPr/>
          </p:nvSpPr>
          <p:spPr>
            <a:xfrm>
              <a:off x="1313823" y="-57150"/>
              <a:ext cx="3456450" cy="415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</a:p>
          </p:txBody>
        </p:sp>
        <p:sp>
          <p:nvSpPr>
            <p:cNvPr id="16" name="Freeform 16" descr="Symbol"/>
            <p:cNvSpPr/>
            <p:nvPr/>
          </p:nvSpPr>
          <p:spPr>
            <a:xfrm>
              <a:off x="0" y="10659"/>
              <a:ext cx="398926" cy="336756"/>
            </a:xfrm>
            <a:custGeom>
              <a:avLst/>
              <a:gdLst/>
              <a:ahLst/>
              <a:cxnLst/>
              <a:rect l="l" t="t" r="r" b="b"/>
              <a:pathLst>
                <a:path w="398926" h="33675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 descr="X's logo"/>
            <p:cNvSpPr/>
            <p:nvPr/>
          </p:nvSpPr>
          <p:spPr>
            <a:xfrm>
              <a:off x="502626" y="43807"/>
              <a:ext cx="299310" cy="270460"/>
            </a:xfrm>
            <a:custGeom>
              <a:avLst/>
              <a:gdLst/>
              <a:ahLst/>
              <a:cxnLst/>
              <a:rect l="l" t="t" r="r" b="b"/>
              <a:pathLst>
                <a:path w="299310" h="270460">
                  <a:moveTo>
                    <a:pt x="0" y="0"/>
                  </a:moveTo>
                  <a:lnTo>
                    <a:pt x="299309" y="0"/>
                  </a:lnTo>
                  <a:lnTo>
                    <a:pt x="299309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 descr="Symbol"/>
            <p:cNvSpPr/>
            <p:nvPr/>
          </p:nvSpPr>
          <p:spPr>
            <a:xfrm>
              <a:off x="905635" y="26793"/>
              <a:ext cx="304488" cy="304488"/>
            </a:xfrm>
            <a:custGeom>
              <a:avLst/>
              <a:gdLst/>
              <a:ahLst/>
              <a:cxnLst/>
              <a:rect l="l" t="t" r="r" b="b"/>
              <a:pathLst>
                <a:path w="304488" h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U Report Presentation Template" id="{15DDEA43-7CFE-4AB7-BFD5-AAE880B5C4B8}" vid="{0F212720-FA41-45FA-838D-80B4ADDF4C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</TotalTime>
  <Words>1563</Words>
  <Application>Microsoft Office PowerPoint</Application>
  <PresentationFormat>Custom</PresentationFormat>
  <Paragraphs>237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Presentation Template 1</dc:title>
  <cp:lastModifiedBy>Peter Ofoma</cp:lastModifiedBy>
  <cp:revision>5</cp:revision>
  <dcterms:created xsi:type="dcterms:W3CDTF">2006-08-16T00:00:00Z</dcterms:created>
  <dcterms:modified xsi:type="dcterms:W3CDTF">2026-10-17T05:55:44Z</dcterms:modified>
  <dc:identifier>DAGkIFAjLi8</dc:identifier>
</cp:coreProperties>
</file>